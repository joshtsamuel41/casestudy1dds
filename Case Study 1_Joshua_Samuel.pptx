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4"/>
  </p:notesMasterIdLst>
  <p:sldIdLst>
    <p:sldId id="256" r:id="rId2"/>
    <p:sldId id="257" r:id="rId3"/>
    <p:sldId id="258" r:id="rId4"/>
    <p:sldId id="259" r:id="rId5"/>
    <p:sldId id="260" r:id="rId6"/>
    <p:sldId id="265" r:id="rId7"/>
    <p:sldId id="277" r:id="rId8"/>
    <p:sldId id="278" r:id="rId9"/>
    <p:sldId id="279" r:id="rId10"/>
    <p:sldId id="280" r:id="rId11"/>
    <p:sldId id="271" r:id="rId12"/>
    <p:sldId id="267" r:id="rId13"/>
    <p:sldId id="268" r:id="rId14"/>
    <p:sldId id="273" r:id="rId15"/>
    <p:sldId id="275" r:id="rId16"/>
    <p:sldId id="269" r:id="rId17"/>
    <p:sldId id="270" r:id="rId18"/>
    <p:sldId id="274" r:id="rId19"/>
    <p:sldId id="272" r:id="rId20"/>
    <p:sldId id="276" r:id="rId21"/>
    <p:sldId id="281" r:id="rId22"/>
    <p:sldId id="282"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063"/>
    <p:restoredTop sz="94608"/>
  </p:normalViewPr>
  <p:slideViewPr>
    <p:cSldViewPr snapToGrid="0">
      <p:cViewPr>
        <p:scale>
          <a:sx n="74" d="100"/>
          <a:sy n="74" d="100"/>
        </p:scale>
        <p:origin x="-712" y="1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218CC0-4FE2-D548-A562-1BAFFF907FB7}" type="datetimeFigureOut">
              <a:rPr lang="en-US" smtClean="0"/>
              <a:t>3/4/26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F1A265-C4AD-D54A-BA21-4F315EF5CD32}" type="slidenum">
              <a:rPr lang="en-US" smtClean="0"/>
              <a:t>‹#›</a:t>
            </a:fld>
            <a:endParaRPr lang="en-US"/>
          </a:p>
        </p:txBody>
      </p:sp>
    </p:spTree>
    <p:extLst>
      <p:ext uri="{BB962C8B-B14F-4D97-AF65-F5344CB8AC3E}">
        <p14:creationId xmlns:p14="http://schemas.microsoft.com/office/powerpoint/2010/main" val="53233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F1A265-C4AD-D54A-BA21-4F315EF5CD32}" type="slidenum">
              <a:rPr lang="en-US" smtClean="0"/>
              <a:t>12</a:t>
            </a:fld>
            <a:endParaRPr lang="en-US"/>
          </a:p>
        </p:txBody>
      </p:sp>
    </p:spTree>
    <p:extLst>
      <p:ext uri="{BB962C8B-B14F-4D97-AF65-F5344CB8AC3E}">
        <p14:creationId xmlns:p14="http://schemas.microsoft.com/office/powerpoint/2010/main" val="25460504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F1A265-C4AD-D54A-BA21-4F315EF5CD32}" type="slidenum">
              <a:rPr lang="en-US" smtClean="0"/>
              <a:t>14</a:t>
            </a:fld>
            <a:endParaRPr lang="en-US"/>
          </a:p>
        </p:txBody>
      </p:sp>
    </p:spTree>
    <p:extLst>
      <p:ext uri="{BB962C8B-B14F-4D97-AF65-F5344CB8AC3E}">
        <p14:creationId xmlns:p14="http://schemas.microsoft.com/office/powerpoint/2010/main" val="3140328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F1A265-C4AD-D54A-BA21-4F315EF5CD32}" type="slidenum">
              <a:rPr lang="en-US" smtClean="0"/>
              <a:t>16</a:t>
            </a:fld>
            <a:endParaRPr lang="en-US"/>
          </a:p>
        </p:txBody>
      </p:sp>
    </p:spTree>
    <p:extLst>
      <p:ext uri="{BB962C8B-B14F-4D97-AF65-F5344CB8AC3E}">
        <p14:creationId xmlns:p14="http://schemas.microsoft.com/office/powerpoint/2010/main" val="28912791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F1A265-C4AD-D54A-BA21-4F315EF5CD32}" type="slidenum">
              <a:rPr lang="en-US" smtClean="0"/>
              <a:t>20</a:t>
            </a:fld>
            <a:endParaRPr lang="en-US"/>
          </a:p>
        </p:txBody>
      </p:sp>
    </p:spTree>
    <p:extLst>
      <p:ext uri="{BB962C8B-B14F-4D97-AF65-F5344CB8AC3E}">
        <p14:creationId xmlns:p14="http://schemas.microsoft.com/office/powerpoint/2010/main" val="578171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3/4/26</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3/4/26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3/4/26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3/4/26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3/4/26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3/4/26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3/4/26</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3/4/26</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48C8E-44FB-67E0-02A0-9AC73EBD7E34}"/>
              </a:ext>
            </a:extLst>
          </p:cNvPr>
          <p:cNvSpPr>
            <a:spLocks noGrp="1"/>
          </p:cNvSpPr>
          <p:nvPr>
            <p:ph type="ctrTitle"/>
          </p:nvPr>
        </p:nvSpPr>
        <p:spPr/>
        <p:txBody>
          <a:bodyPr/>
          <a:lstStyle/>
          <a:p>
            <a:r>
              <a:rPr lang="en-US" dirty="0"/>
              <a:t>Case Study 1</a:t>
            </a:r>
          </a:p>
        </p:txBody>
      </p:sp>
      <p:sp>
        <p:nvSpPr>
          <p:cNvPr id="3" name="Subtitle 2">
            <a:extLst>
              <a:ext uri="{FF2B5EF4-FFF2-40B4-BE49-F238E27FC236}">
                <a16:creationId xmlns:a16="http://schemas.microsoft.com/office/drawing/2014/main" id="{604A8A9F-01B4-7C3E-CC2F-E1E5DD90D25D}"/>
              </a:ext>
            </a:extLst>
          </p:cNvPr>
          <p:cNvSpPr>
            <a:spLocks noGrp="1"/>
          </p:cNvSpPr>
          <p:nvPr>
            <p:ph type="subTitle" idx="1"/>
          </p:nvPr>
        </p:nvSpPr>
        <p:spPr/>
        <p:txBody>
          <a:bodyPr/>
          <a:lstStyle/>
          <a:p>
            <a:r>
              <a:rPr lang="en-US" dirty="0"/>
              <a:t>By: Joshua Samuel</a:t>
            </a:r>
          </a:p>
        </p:txBody>
      </p:sp>
    </p:spTree>
    <p:extLst>
      <p:ext uri="{BB962C8B-B14F-4D97-AF65-F5344CB8AC3E}">
        <p14:creationId xmlns:p14="http://schemas.microsoft.com/office/powerpoint/2010/main" val="675453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CB0A9-C079-1623-810B-CC2159C6F9EF}"/>
              </a:ext>
            </a:extLst>
          </p:cNvPr>
          <p:cNvSpPr>
            <a:spLocks noGrp="1"/>
          </p:cNvSpPr>
          <p:nvPr>
            <p:ph type="title"/>
          </p:nvPr>
        </p:nvSpPr>
        <p:spPr/>
        <p:txBody>
          <a:bodyPr/>
          <a:lstStyle/>
          <a:p>
            <a:r>
              <a:rPr lang="en-US" dirty="0"/>
              <a:t>Problem</a:t>
            </a:r>
          </a:p>
        </p:txBody>
      </p:sp>
      <p:sp>
        <p:nvSpPr>
          <p:cNvPr id="3" name="Content Placeholder 2">
            <a:extLst>
              <a:ext uri="{FF2B5EF4-FFF2-40B4-BE49-F238E27FC236}">
                <a16:creationId xmlns:a16="http://schemas.microsoft.com/office/drawing/2014/main" id="{14E71711-E335-CD3D-C62E-847DF85AF9BE}"/>
              </a:ext>
            </a:extLst>
          </p:cNvPr>
          <p:cNvSpPr>
            <a:spLocks noGrp="1"/>
          </p:cNvSpPr>
          <p:nvPr>
            <p:ph idx="1"/>
          </p:nvPr>
        </p:nvSpPr>
        <p:spPr/>
        <p:txBody>
          <a:bodyPr/>
          <a:lstStyle/>
          <a:p>
            <a:r>
              <a:rPr lang="en-US" dirty="0"/>
              <a:t>Frito Lay has hired </a:t>
            </a:r>
            <a:r>
              <a:rPr lang="en-US" dirty="0" err="1"/>
              <a:t>DDSAnalytics</a:t>
            </a:r>
            <a:r>
              <a:rPr lang="en-US" dirty="0"/>
              <a:t> to figure out why employees are leaving the company (attrition).</a:t>
            </a:r>
          </a:p>
          <a:p>
            <a:r>
              <a:rPr lang="en-US" dirty="0" err="1"/>
              <a:t>DDSAnalytics</a:t>
            </a:r>
            <a:r>
              <a:rPr lang="en-US" dirty="0"/>
              <a:t>’ goal is to predict which employees might be more likely to leave and to identify the main reasons behind attrition so the company can take the necessary steps to reduce it. </a:t>
            </a:r>
          </a:p>
        </p:txBody>
      </p:sp>
    </p:spTree>
    <p:extLst>
      <p:ext uri="{BB962C8B-B14F-4D97-AF65-F5344CB8AC3E}">
        <p14:creationId xmlns:p14="http://schemas.microsoft.com/office/powerpoint/2010/main" val="220107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46086-B67B-416D-2E3E-29CE0346BE15}"/>
              </a:ext>
            </a:extLst>
          </p:cNvPr>
          <p:cNvSpPr>
            <a:spLocks noGrp="1"/>
          </p:cNvSpPr>
          <p:nvPr>
            <p:ph type="title"/>
          </p:nvPr>
        </p:nvSpPr>
        <p:spPr/>
        <p:txBody>
          <a:bodyPr/>
          <a:lstStyle/>
          <a:p>
            <a:r>
              <a:rPr lang="en-US" dirty="0"/>
              <a:t>Costs</a:t>
            </a:r>
          </a:p>
        </p:txBody>
      </p:sp>
      <p:sp>
        <p:nvSpPr>
          <p:cNvPr id="3" name="Content Placeholder 2">
            <a:extLst>
              <a:ext uri="{FF2B5EF4-FFF2-40B4-BE49-F238E27FC236}">
                <a16:creationId xmlns:a16="http://schemas.microsoft.com/office/drawing/2014/main" id="{0389A89B-13DE-D3DC-8EDD-996DE96C7D20}"/>
              </a:ext>
            </a:extLst>
          </p:cNvPr>
          <p:cNvSpPr>
            <a:spLocks noGrp="1"/>
          </p:cNvSpPr>
          <p:nvPr>
            <p:ph idx="1"/>
          </p:nvPr>
        </p:nvSpPr>
        <p:spPr/>
        <p:txBody>
          <a:bodyPr/>
          <a:lstStyle/>
          <a:p>
            <a:r>
              <a:rPr lang="en-US" dirty="0"/>
              <a:t>Replacing an employee who leaves can cost anywhere from 50% to 400% of that employee’s annual salary.</a:t>
            </a:r>
          </a:p>
          <a:p>
            <a:r>
              <a:rPr lang="en-US" dirty="0"/>
              <a:t>Estimated cost of offering incentives to help retain employees is about $200 per employee.</a:t>
            </a:r>
          </a:p>
        </p:txBody>
      </p:sp>
    </p:spTree>
    <p:extLst>
      <p:ext uri="{BB962C8B-B14F-4D97-AF65-F5344CB8AC3E}">
        <p14:creationId xmlns:p14="http://schemas.microsoft.com/office/powerpoint/2010/main" val="2086088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283D4-BADD-66E4-8198-A9E0CDEFECB0}"/>
              </a:ext>
            </a:extLst>
          </p:cNvPr>
          <p:cNvSpPr>
            <a:spLocks noGrp="1"/>
          </p:cNvSpPr>
          <p:nvPr>
            <p:ph type="title"/>
          </p:nvPr>
        </p:nvSpPr>
        <p:spPr/>
        <p:txBody>
          <a:bodyPr/>
          <a:lstStyle/>
          <a:p>
            <a:r>
              <a:rPr lang="en-US" dirty="0"/>
              <a:t>Summary of attritions</a:t>
            </a:r>
          </a:p>
        </p:txBody>
      </p:sp>
      <p:grpSp>
        <p:nvGrpSpPr>
          <p:cNvPr id="12" name="Group 11">
            <a:extLst>
              <a:ext uri="{FF2B5EF4-FFF2-40B4-BE49-F238E27FC236}">
                <a16:creationId xmlns:a16="http://schemas.microsoft.com/office/drawing/2014/main" id="{5ECE8F97-48A3-58F3-C083-8CA3FD6B6F1F}"/>
              </a:ext>
            </a:extLst>
          </p:cNvPr>
          <p:cNvGrpSpPr/>
          <p:nvPr/>
        </p:nvGrpSpPr>
        <p:grpSpPr>
          <a:xfrm>
            <a:off x="4390888" y="2412331"/>
            <a:ext cx="3724656" cy="2998724"/>
            <a:chOff x="4352544" y="2093976"/>
            <a:chExt cx="3145536" cy="2670048"/>
          </a:xfrm>
        </p:grpSpPr>
        <p:sp>
          <p:nvSpPr>
            <p:cNvPr id="7" name="Rectangle 6">
              <a:extLst>
                <a:ext uri="{FF2B5EF4-FFF2-40B4-BE49-F238E27FC236}">
                  <a16:creationId xmlns:a16="http://schemas.microsoft.com/office/drawing/2014/main" id="{78085CCE-7054-0196-9282-C41DF8AE1529}"/>
                </a:ext>
              </a:extLst>
            </p:cNvPr>
            <p:cNvSpPr/>
            <p:nvPr/>
          </p:nvSpPr>
          <p:spPr>
            <a:xfrm>
              <a:off x="4352544" y="2093976"/>
              <a:ext cx="1572768" cy="13350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730</a:t>
              </a:r>
            </a:p>
          </p:txBody>
        </p:sp>
        <p:sp>
          <p:nvSpPr>
            <p:cNvPr id="9" name="Rectangle 8">
              <a:extLst>
                <a:ext uri="{FF2B5EF4-FFF2-40B4-BE49-F238E27FC236}">
                  <a16:creationId xmlns:a16="http://schemas.microsoft.com/office/drawing/2014/main" id="{37C421CB-BEB5-6392-66C3-0C86BEC3E7BD}"/>
                </a:ext>
              </a:extLst>
            </p:cNvPr>
            <p:cNvSpPr/>
            <p:nvPr/>
          </p:nvSpPr>
          <p:spPr>
            <a:xfrm>
              <a:off x="5925312" y="2093976"/>
              <a:ext cx="1572768" cy="13350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83.91%</a:t>
              </a:r>
            </a:p>
          </p:txBody>
        </p:sp>
        <p:sp>
          <p:nvSpPr>
            <p:cNvPr id="10" name="Rectangle 9">
              <a:extLst>
                <a:ext uri="{FF2B5EF4-FFF2-40B4-BE49-F238E27FC236}">
                  <a16:creationId xmlns:a16="http://schemas.microsoft.com/office/drawing/2014/main" id="{769BE92F-9333-9ED3-44D3-B61F1CC3EFE0}"/>
                </a:ext>
              </a:extLst>
            </p:cNvPr>
            <p:cNvSpPr/>
            <p:nvPr/>
          </p:nvSpPr>
          <p:spPr>
            <a:xfrm>
              <a:off x="4352544" y="3429000"/>
              <a:ext cx="1572768" cy="13350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140</a:t>
              </a:r>
            </a:p>
          </p:txBody>
        </p:sp>
        <p:sp>
          <p:nvSpPr>
            <p:cNvPr id="11" name="Rectangle 10">
              <a:extLst>
                <a:ext uri="{FF2B5EF4-FFF2-40B4-BE49-F238E27FC236}">
                  <a16:creationId xmlns:a16="http://schemas.microsoft.com/office/drawing/2014/main" id="{CB62F499-8094-C34E-0E39-D4C326070E44}"/>
                </a:ext>
              </a:extLst>
            </p:cNvPr>
            <p:cNvSpPr/>
            <p:nvPr/>
          </p:nvSpPr>
          <p:spPr>
            <a:xfrm>
              <a:off x="5925312" y="3429000"/>
              <a:ext cx="1572768" cy="13350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16.09%</a:t>
              </a:r>
            </a:p>
          </p:txBody>
        </p:sp>
      </p:grpSp>
      <p:sp>
        <p:nvSpPr>
          <p:cNvPr id="13" name="TextBox 12">
            <a:extLst>
              <a:ext uri="{FF2B5EF4-FFF2-40B4-BE49-F238E27FC236}">
                <a16:creationId xmlns:a16="http://schemas.microsoft.com/office/drawing/2014/main" id="{A0CD9B63-7CE1-DE8C-F5FC-B94C124A1E40}"/>
              </a:ext>
            </a:extLst>
          </p:cNvPr>
          <p:cNvSpPr txBox="1"/>
          <p:nvPr/>
        </p:nvSpPr>
        <p:spPr>
          <a:xfrm>
            <a:off x="3787538" y="2977346"/>
            <a:ext cx="490840" cy="369332"/>
          </a:xfrm>
          <a:prstGeom prst="rect">
            <a:avLst/>
          </a:prstGeom>
          <a:noFill/>
        </p:spPr>
        <p:txBody>
          <a:bodyPr wrap="square" rtlCol="0">
            <a:spAutoFit/>
          </a:bodyPr>
          <a:lstStyle/>
          <a:p>
            <a:r>
              <a:rPr lang="en-US" dirty="0"/>
              <a:t>No</a:t>
            </a:r>
          </a:p>
        </p:txBody>
      </p:sp>
      <p:sp>
        <p:nvSpPr>
          <p:cNvPr id="14" name="TextBox 13">
            <a:extLst>
              <a:ext uri="{FF2B5EF4-FFF2-40B4-BE49-F238E27FC236}">
                <a16:creationId xmlns:a16="http://schemas.microsoft.com/office/drawing/2014/main" id="{B881C29D-3676-7B14-53E4-7EB325CAC64D}"/>
              </a:ext>
            </a:extLst>
          </p:cNvPr>
          <p:cNvSpPr txBox="1"/>
          <p:nvPr/>
        </p:nvSpPr>
        <p:spPr>
          <a:xfrm>
            <a:off x="3792119" y="4476708"/>
            <a:ext cx="492892" cy="369332"/>
          </a:xfrm>
          <a:prstGeom prst="rect">
            <a:avLst/>
          </a:prstGeom>
          <a:noFill/>
        </p:spPr>
        <p:txBody>
          <a:bodyPr wrap="square" rtlCol="0">
            <a:spAutoFit/>
          </a:bodyPr>
          <a:lstStyle/>
          <a:p>
            <a:r>
              <a:rPr lang="en-US" dirty="0"/>
              <a:t>Yes</a:t>
            </a:r>
          </a:p>
        </p:txBody>
      </p:sp>
      <p:sp>
        <p:nvSpPr>
          <p:cNvPr id="15" name="TextBox 14">
            <a:extLst>
              <a:ext uri="{FF2B5EF4-FFF2-40B4-BE49-F238E27FC236}">
                <a16:creationId xmlns:a16="http://schemas.microsoft.com/office/drawing/2014/main" id="{A2AC5534-704A-B40B-4D66-F9F5AC22B9C9}"/>
              </a:ext>
            </a:extLst>
          </p:cNvPr>
          <p:cNvSpPr txBox="1"/>
          <p:nvPr/>
        </p:nvSpPr>
        <p:spPr>
          <a:xfrm>
            <a:off x="4930758" y="2042999"/>
            <a:ext cx="782587" cy="369332"/>
          </a:xfrm>
          <a:prstGeom prst="rect">
            <a:avLst/>
          </a:prstGeom>
          <a:noFill/>
        </p:spPr>
        <p:txBody>
          <a:bodyPr wrap="none" rtlCol="0">
            <a:spAutoFit/>
          </a:bodyPr>
          <a:lstStyle/>
          <a:p>
            <a:r>
              <a:rPr lang="en-US" dirty="0"/>
              <a:t>Count</a:t>
            </a:r>
          </a:p>
        </p:txBody>
      </p:sp>
      <p:sp>
        <p:nvSpPr>
          <p:cNvPr id="16" name="TextBox 15">
            <a:extLst>
              <a:ext uri="{FF2B5EF4-FFF2-40B4-BE49-F238E27FC236}">
                <a16:creationId xmlns:a16="http://schemas.microsoft.com/office/drawing/2014/main" id="{BB9FC862-E7E1-DF90-7E94-32722BDB978B}"/>
              </a:ext>
            </a:extLst>
          </p:cNvPr>
          <p:cNvSpPr txBox="1"/>
          <p:nvPr/>
        </p:nvSpPr>
        <p:spPr>
          <a:xfrm>
            <a:off x="6365726" y="2042999"/>
            <a:ext cx="1637308" cy="369332"/>
          </a:xfrm>
          <a:prstGeom prst="rect">
            <a:avLst/>
          </a:prstGeom>
          <a:noFill/>
        </p:spPr>
        <p:txBody>
          <a:bodyPr wrap="none" rtlCol="0">
            <a:spAutoFit/>
          </a:bodyPr>
          <a:lstStyle/>
          <a:p>
            <a:r>
              <a:rPr lang="en-US" dirty="0"/>
              <a:t>Percent of Total</a:t>
            </a:r>
          </a:p>
        </p:txBody>
      </p:sp>
      <p:sp>
        <p:nvSpPr>
          <p:cNvPr id="17" name="TextBox 16">
            <a:extLst>
              <a:ext uri="{FF2B5EF4-FFF2-40B4-BE49-F238E27FC236}">
                <a16:creationId xmlns:a16="http://schemas.microsoft.com/office/drawing/2014/main" id="{3341CC81-FEF8-D04E-1728-2FFCC1C22E3A}"/>
              </a:ext>
            </a:extLst>
          </p:cNvPr>
          <p:cNvSpPr txBox="1"/>
          <p:nvPr/>
        </p:nvSpPr>
        <p:spPr>
          <a:xfrm>
            <a:off x="3748725" y="5478991"/>
            <a:ext cx="642163" cy="369332"/>
          </a:xfrm>
          <a:prstGeom prst="rect">
            <a:avLst/>
          </a:prstGeom>
          <a:noFill/>
        </p:spPr>
        <p:txBody>
          <a:bodyPr wrap="none" rtlCol="0">
            <a:spAutoFit/>
          </a:bodyPr>
          <a:lstStyle/>
          <a:p>
            <a:r>
              <a:rPr lang="en-US" dirty="0"/>
              <a:t>Total</a:t>
            </a:r>
          </a:p>
        </p:txBody>
      </p:sp>
      <p:sp>
        <p:nvSpPr>
          <p:cNvPr id="18" name="TextBox 17">
            <a:extLst>
              <a:ext uri="{FF2B5EF4-FFF2-40B4-BE49-F238E27FC236}">
                <a16:creationId xmlns:a16="http://schemas.microsoft.com/office/drawing/2014/main" id="{8C37D119-D50A-A08D-B6C8-A2D3E556C30B}"/>
              </a:ext>
            </a:extLst>
          </p:cNvPr>
          <p:cNvSpPr txBox="1"/>
          <p:nvPr/>
        </p:nvSpPr>
        <p:spPr>
          <a:xfrm>
            <a:off x="5056593" y="5478594"/>
            <a:ext cx="530915" cy="369332"/>
          </a:xfrm>
          <a:prstGeom prst="rect">
            <a:avLst/>
          </a:prstGeom>
          <a:noFill/>
        </p:spPr>
        <p:txBody>
          <a:bodyPr wrap="none" rtlCol="0">
            <a:spAutoFit/>
          </a:bodyPr>
          <a:lstStyle/>
          <a:p>
            <a:r>
              <a:rPr lang="en-US" dirty="0"/>
              <a:t>870</a:t>
            </a:r>
          </a:p>
        </p:txBody>
      </p:sp>
      <p:sp>
        <p:nvSpPr>
          <p:cNvPr id="19" name="TextBox 18">
            <a:extLst>
              <a:ext uri="{FF2B5EF4-FFF2-40B4-BE49-F238E27FC236}">
                <a16:creationId xmlns:a16="http://schemas.microsoft.com/office/drawing/2014/main" id="{A8160CFD-BB50-A8DE-5315-F1E559A2A475}"/>
              </a:ext>
            </a:extLst>
          </p:cNvPr>
          <p:cNvSpPr txBox="1"/>
          <p:nvPr/>
        </p:nvSpPr>
        <p:spPr>
          <a:xfrm>
            <a:off x="6841177" y="5478594"/>
            <a:ext cx="686406" cy="369332"/>
          </a:xfrm>
          <a:prstGeom prst="rect">
            <a:avLst/>
          </a:prstGeom>
          <a:noFill/>
        </p:spPr>
        <p:txBody>
          <a:bodyPr wrap="none" rtlCol="0">
            <a:spAutoFit/>
          </a:bodyPr>
          <a:lstStyle/>
          <a:p>
            <a:r>
              <a:rPr lang="en-US" dirty="0"/>
              <a:t>100%</a:t>
            </a:r>
          </a:p>
        </p:txBody>
      </p:sp>
    </p:spTree>
    <p:extLst>
      <p:ext uri="{BB962C8B-B14F-4D97-AF65-F5344CB8AC3E}">
        <p14:creationId xmlns:p14="http://schemas.microsoft.com/office/powerpoint/2010/main" val="1484567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FC2C8-13FA-A921-8878-06375DF6A498}"/>
              </a:ext>
            </a:extLst>
          </p:cNvPr>
          <p:cNvSpPr>
            <a:spLocks noGrp="1"/>
          </p:cNvSpPr>
          <p:nvPr>
            <p:ph type="title"/>
          </p:nvPr>
        </p:nvSpPr>
        <p:spPr/>
        <p:txBody>
          <a:bodyPr/>
          <a:lstStyle/>
          <a:p>
            <a:r>
              <a:rPr lang="en-US" dirty="0"/>
              <a:t>Initial Data Wrangling</a:t>
            </a:r>
          </a:p>
        </p:txBody>
      </p:sp>
      <p:sp>
        <p:nvSpPr>
          <p:cNvPr id="3" name="Content Placeholder 2">
            <a:extLst>
              <a:ext uri="{FF2B5EF4-FFF2-40B4-BE49-F238E27FC236}">
                <a16:creationId xmlns:a16="http://schemas.microsoft.com/office/drawing/2014/main" id="{4EDA1766-F482-17DE-9FA7-6C8A8B96C147}"/>
              </a:ext>
            </a:extLst>
          </p:cNvPr>
          <p:cNvSpPr>
            <a:spLocks noGrp="1"/>
          </p:cNvSpPr>
          <p:nvPr>
            <p:ph idx="1"/>
          </p:nvPr>
        </p:nvSpPr>
        <p:spPr/>
        <p:txBody>
          <a:bodyPr/>
          <a:lstStyle/>
          <a:p>
            <a:r>
              <a:rPr lang="en-US" dirty="0"/>
              <a:t>No NA values were found in the dataset.</a:t>
            </a:r>
          </a:p>
          <a:p>
            <a:r>
              <a:rPr lang="en-US" dirty="0"/>
              <a:t>Changed “</a:t>
            </a:r>
            <a:r>
              <a:rPr lang="en-US" dirty="0" err="1"/>
              <a:t>BusinessTravel</a:t>
            </a:r>
            <a:r>
              <a:rPr lang="en-US" dirty="0"/>
              <a:t>”, “Department”, and “</a:t>
            </a:r>
            <a:r>
              <a:rPr lang="en-US" dirty="0" err="1"/>
              <a:t>EducationField</a:t>
            </a:r>
            <a:r>
              <a:rPr lang="en-US" dirty="0"/>
              <a:t>” from nominal variables to ordinal per description in Data Dictionary.</a:t>
            </a:r>
          </a:p>
          <a:p>
            <a:r>
              <a:rPr lang="en-US" dirty="0"/>
              <a:t>Will have to do further wrangling for KNN model due to the requirement of numerical predictors. </a:t>
            </a:r>
          </a:p>
          <a:p>
            <a:r>
              <a:rPr lang="en-US" dirty="0"/>
              <a:t>Will also remove several variables that we do not believe contribute to prediction.</a:t>
            </a:r>
          </a:p>
          <a:p>
            <a:pPr marL="0" indent="0">
              <a:buNone/>
            </a:pPr>
            <a:endParaRPr lang="en-US" dirty="0"/>
          </a:p>
        </p:txBody>
      </p:sp>
    </p:spTree>
    <p:extLst>
      <p:ext uri="{BB962C8B-B14F-4D97-AF65-F5344CB8AC3E}">
        <p14:creationId xmlns:p14="http://schemas.microsoft.com/office/powerpoint/2010/main" val="1751849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DB7D0-0A97-4361-2CA2-1E0475BBF982}"/>
              </a:ext>
            </a:extLst>
          </p:cNvPr>
          <p:cNvSpPr>
            <a:spLocks noGrp="1"/>
          </p:cNvSpPr>
          <p:nvPr>
            <p:ph type="title"/>
          </p:nvPr>
        </p:nvSpPr>
        <p:spPr/>
        <p:txBody>
          <a:bodyPr/>
          <a:lstStyle/>
          <a:p>
            <a:r>
              <a:rPr lang="en-US" dirty="0"/>
              <a:t>Visualizations - EDA</a:t>
            </a:r>
          </a:p>
        </p:txBody>
      </p:sp>
    </p:spTree>
    <p:extLst>
      <p:ext uri="{BB962C8B-B14F-4D97-AF65-F5344CB8AC3E}">
        <p14:creationId xmlns:p14="http://schemas.microsoft.com/office/powerpoint/2010/main" val="319400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87E8ED1-6A87-0471-DEA9-142773B04F7E}"/>
              </a:ext>
            </a:extLst>
          </p:cNvPr>
          <p:cNvPicPr>
            <a:picLocks noChangeAspect="1"/>
          </p:cNvPicPr>
          <p:nvPr/>
        </p:nvPicPr>
        <p:blipFill>
          <a:blip r:embed="rId2"/>
          <a:stretch>
            <a:fillRect/>
          </a:stretch>
        </p:blipFill>
        <p:spPr>
          <a:xfrm>
            <a:off x="4333056" y="706903"/>
            <a:ext cx="7030720" cy="4531519"/>
          </a:xfrm>
          <a:prstGeom prst="rect">
            <a:avLst/>
          </a:prstGeom>
        </p:spPr>
      </p:pic>
      <p:sp>
        <p:nvSpPr>
          <p:cNvPr id="3" name="TextBox 2">
            <a:extLst>
              <a:ext uri="{FF2B5EF4-FFF2-40B4-BE49-F238E27FC236}">
                <a16:creationId xmlns:a16="http://schemas.microsoft.com/office/drawing/2014/main" id="{B932BA86-4405-18C6-C65B-73A708F8A09A}"/>
              </a:ext>
            </a:extLst>
          </p:cNvPr>
          <p:cNvSpPr txBox="1"/>
          <p:nvPr/>
        </p:nvSpPr>
        <p:spPr>
          <a:xfrm>
            <a:off x="828224" y="2205668"/>
            <a:ext cx="2961578" cy="1754326"/>
          </a:xfrm>
          <a:prstGeom prst="rect">
            <a:avLst/>
          </a:prstGeom>
          <a:noFill/>
        </p:spPr>
        <p:txBody>
          <a:bodyPr wrap="square" rtlCol="0">
            <a:spAutoFit/>
          </a:bodyPr>
          <a:lstStyle/>
          <a:p>
            <a:r>
              <a:rPr lang="en-US" dirty="0"/>
              <a:t>Employees who worked Overtime had an extremely higher attrition rate than those that did not at about 31.7%. </a:t>
            </a:r>
          </a:p>
          <a:p>
            <a:endParaRPr lang="en-US" dirty="0"/>
          </a:p>
        </p:txBody>
      </p:sp>
    </p:spTree>
    <p:extLst>
      <p:ext uri="{BB962C8B-B14F-4D97-AF65-F5344CB8AC3E}">
        <p14:creationId xmlns:p14="http://schemas.microsoft.com/office/powerpoint/2010/main" val="1176043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4A881-9434-79DA-A288-C9454A4C7C8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1D397C6-0C21-28EC-862E-005DEDB4CD7C}"/>
              </a:ext>
            </a:extLst>
          </p:cNvPr>
          <p:cNvSpPr txBox="1"/>
          <p:nvPr/>
        </p:nvSpPr>
        <p:spPr>
          <a:xfrm>
            <a:off x="828224" y="2326854"/>
            <a:ext cx="2961578" cy="1754326"/>
          </a:xfrm>
          <a:prstGeom prst="rect">
            <a:avLst/>
          </a:prstGeom>
          <a:noFill/>
        </p:spPr>
        <p:txBody>
          <a:bodyPr wrap="square" rtlCol="0">
            <a:spAutoFit/>
          </a:bodyPr>
          <a:lstStyle/>
          <a:p>
            <a:r>
              <a:rPr lang="en-US" dirty="0"/>
              <a:t>Employees who had a Job Level = 1, had a substantially higher attrition rate than the other Job Levels at about 26.1%</a:t>
            </a:r>
          </a:p>
          <a:p>
            <a:endParaRPr lang="en-US" dirty="0"/>
          </a:p>
        </p:txBody>
      </p:sp>
      <p:pic>
        <p:nvPicPr>
          <p:cNvPr id="4" name="Picture 3">
            <a:extLst>
              <a:ext uri="{FF2B5EF4-FFF2-40B4-BE49-F238E27FC236}">
                <a16:creationId xmlns:a16="http://schemas.microsoft.com/office/drawing/2014/main" id="{783980EB-3189-3D4D-4C62-E200B7BAD49D}"/>
              </a:ext>
            </a:extLst>
          </p:cNvPr>
          <p:cNvPicPr>
            <a:picLocks noChangeAspect="1"/>
          </p:cNvPicPr>
          <p:nvPr/>
        </p:nvPicPr>
        <p:blipFill>
          <a:blip r:embed="rId2"/>
          <a:stretch>
            <a:fillRect/>
          </a:stretch>
        </p:blipFill>
        <p:spPr>
          <a:xfrm>
            <a:off x="4333056" y="717918"/>
            <a:ext cx="7030720" cy="4531519"/>
          </a:xfrm>
          <a:prstGeom prst="rect">
            <a:avLst/>
          </a:prstGeom>
        </p:spPr>
      </p:pic>
    </p:spTree>
    <p:extLst>
      <p:ext uri="{BB962C8B-B14F-4D97-AF65-F5344CB8AC3E}">
        <p14:creationId xmlns:p14="http://schemas.microsoft.com/office/powerpoint/2010/main" val="1386485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4657C-D427-59D3-8AC1-9958C9FFEAF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F084521-C31F-C3FF-BBCC-3772A95B8B2E}"/>
              </a:ext>
            </a:extLst>
          </p:cNvPr>
          <p:cNvSpPr txBox="1"/>
          <p:nvPr/>
        </p:nvSpPr>
        <p:spPr>
          <a:xfrm>
            <a:off x="828224" y="2344166"/>
            <a:ext cx="2961578" cy="1477328"/>
          </a:xfrm>
          <a:prstGeom prst="rect">
            <a:avLst/>
          </a:prstGeom>
          <a:noFill/>
        </p:spPr>
        <p:txBody>
          <a:bodyPr wrap="square" rtlCol="0">
            <a:spAutoFit/>
          </a:bodyPr>
          <a:lstStyle/>
          <a:p>
            <a:r>
              <a:rPr lang="en-US" dirty="0"/>
              <a:t>Human Resources appears to have the highest attrition rate among Education Fields at around 26.7%. </a:t>
            </a:r>
          </a:p>
          <a:p>
            <a:endParaRPr lang="en-US" dirty="0"/>
          </a:p>
        </p:txBody>
      </p:sp>
      <p:pic>
        <p:nvPicPr>
          <p:cNvPr id="4" name="Picture 3">
            <a:extLst>
              <a:ext uri="{FF2B5EF4-FFF2-40B4-BE49-F238E27FC236}">
                <a16:creationId xmlns:a16="http://schemas.microsoft.com/office/drawing/2014/main" id="{76789005-E593-48C1-54B8-919B5FAD3A9E}"/>
              </a:ext>
            </a:extLst>
          </p:cNvPr>
          <p:cNvPicPr>
            <a:picLocks noChangeAspect="1"/>
          </p:cNvPicPr>
          <p:nvPr/>
        </p:nvPicPr>
        <p:blipFill>
          <a:blip r:embed="rId2"/>
          <a:stretch>
            <a:fillRect/>
          </a:stretch>
        </p:blipFill>
        <p:spPr>
          <a:xfrm>
            <a:off x="4333056" y="817071"/>
            <a:ext cx="7030720" cy="4531519"/>
          </a:xfrm>
          <a:prstGeom prst="rect">
            <a:avLst/>
          </a:prstGeom>
        </p:spPr>
      </p:pic>
    </p:spTree>
    <p:extLst>
      <p:ext uri="{BB962C8B-B14F-4D97-AF65-F5344CB8AC3E}">
        <p14:creationId xmlns:p14="http://schemas.microsoft.com/office/powerpoint/2010/main" val="914202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D9235-758A-3478-5D1E-C0672D06AD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4DFC871-8121-A08C-9BAD-C165B3857DFA}"/>
              </a:ext>
            </a:extLst>
          </p:cNvPr>
          <p:cNvSpPr txBox="1"/>
          <p:nvPr/>
        </p:nvSpPr>
        <p:spPr>
          <a:xfrm>
            <a:off x="828224" y="2205667"/>
            <a:ext cx="2961578" cy="1754326"/>
          </a:xfrm>
          <a:prstGeom prst="rect">
            <a:avLst/>
          </a:prstGeom>
          <a:noFill/>
        </p:spPr>
        <p:txBody>
          <a:bodyPr wrap="square" rtlCol="0">
            <a:spAutoFit/>
          </a:bodyPr>
          <a:lstStyle/>
          <a:p>
            <a:r>
              <a:rPr lang="en-US" dirty="0"/>
              <a:t>Employees who were single had a much higher attrition rate than those who were divorced or married at about 26%. </a:t>
            </a:r>
          </a:p>
          <a:p>
            <a:endParaRPr lang="en-US" dirty="0"/>
          </a:p>
        </p:txBody>
      </p:sp>
      <p:pic>
        <p:nvPicPr>
          <p:cNvPr id="4" name="Picture 3">
            <a:extLst>
              <a:ext uri="{FF2B5EF4-FFF2-40B4-BE49-F238E27FC236}">
                <a16:creationId xmlns:a16="http://schemas.microsoft.com/office/drawing/2014/main" id="{8BA25760-7C59-8E01-B996-40100BC8D9A8}"/>
              </a:ext>
            </a:extLst>
          </p:cNvPr>
          <p:cNvPicPr>
            <a:picLocks noChangeAspect="1"/>
          </p:cNvPicPr>
          <p:nvPr/>
        </p:nvPicPr>
        <p:blipFill>
          <a:blip r:embed="rId2"/>
          <a:stretch>
            <a:fillRect/>
          </a:stretch>
        </p:blipFill>
        <p:spPr>
          <a:xfrm>
            <a:off x="4333056" y="817071"/>
            <a:ext cx="7030720" cy="4531519"/>
          </a:xfrm>
          <a:prstGeom prst="rect">
            <a:avLst/>
          </a:prstGeom>
        </p:spPr>
      </p:pic>
    </p:spTree>
    <p:extLst>
      <p:ext uri="{BB962C8B-B14F-4D97-AF65-F5344CB8AC3E}">
        <p14:creationId xmlns:p14="http://schemas.microsoft.com/office/powerpoint/2010/main" val="17405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FC5DE-79E5-2635-42B5-00B35BFFDC0F}"/>
              </a:ext>
            </a:extLst>
          </p:cNvPr>
          <p:cNvSpPr>
            <a:spLocks noGrp="1"/>
          </p:cNvSpPr>
          <p:nvPr>
            <p:ph type="title"/>
          </p:nvPr>
        </p:nvSpPr>
        <p:spPr/>
        <p:txBody>
          <a:bodyPr/>
          <a:lstStyle/>
          <a:p>
            <a:r>
              <a:rPr lang="en-US" dirty="0"/>
              <a:t>MODELING – Naïve Bayes</a:t>
            </a:r>
          </a:p>
        </p:txBody>
      </p:sp>
    </p:spTree>
    <p:extLst>
      <p:ext uri="{BB962C8B-B14F-4D97-AF65-F5344CB8AC3E}">
        <p14:creationId xmlns:p14="http://schemas.microsoft.com/office/powerpoint/2010/main" val="3570811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2AB73-2348-7A9F-5F7F-A6DB3E6B6CCF}"/>
              </a:ext>
            </a:extLst>
          </p:cNvPr>
          <p:cNvSpPr>
            <a:spLocks noGrp="1"/>
          </p:cNvSpPr>
          <p:nvPr>
            <p:ph type="title"/>
          </p:nvPr>
        </p:nvSpPr>
        <p:spPr/>
        <p:txBody>
          <a:bodyPr/>
          <a:lstStyle/>
          <a:p>
            <a:r>
              <a:rPr lang="en-US" dirty="0"/>
              <a:t>Naïve Bayes MODEL (cont.)</a:t>
            </a:r>
          </a:p>
        </p:txBody>
      </p:sp>
      <p:sp>
        <p:nvSpPr>
          <p:cNvPr id="3" name="Content Placeholder 2">
            <a:extLst>
              <a:ext uri="{FF2B5EF4-FFF2-40B4-BE49-F238E27FC236}">
                <a16:creationId xmlns:a16="http://schemas.microsoft.com/office/drawing/2014/main" id="{48B17A46-CD35-2016-A7B0-DB8B9F54ED38}"/>
              </a:ext>
            </a:extLst>
          </p:cNvPr>
          <p:cNvSpPr>
            <a:spLocks noGrp="1"/>
          </p:cNvSpPr>
          <p:nvPr>
            <p:ph idx="1"/>
          </p:nvPr>
        </p:nvSpPr>
        <p:spPr/>
        <p:txBody>
          <a:bodyPr/>
          <a:lstStyle/>
          <a:p>
            <a:r>
              <a:rPr lang="en-US" dirty="0"/>
              <a:t>The predictors for our model: </a:t>
            </a:r>
            <a:r>
              <a:rPr lang="en-US" i="1" dirty="0" err="1"/>
              <a:t>MonthlyIncome</a:t>
            </a:r>
            <a:r>
              <a:rPr lang="en-US" i="1" dirty="0"/>
              <a:t>, </a:t>
            </a:r>
            <a:r>
              <a:rPr lang="en-US" i="1" dirty="0" err="1"/>
              <a:t>TotalWorkingYears</a:t>
            </a:r>
            <a:r>
              <a:rPr lang="en-US" i="1" dirty="0"/>
              <a:t>, </a:t>
            </a:r>
            <a:r>
              <a:rPr lang="en-US" i="1" dirty="0" err="1"/>
              <a:t>OverTime</a:t>
            </a:r>
            <a:r>
              <a:rPr lang="en-US" i="1" dirty="0"/>
              <a:t>, </a:t>
            </a:r>
            <a:r>
              <a:rPr lang="en-US" i="1" dirty="0" err="1"/>
              <a:t>JobLevel</a:t>
            </a:r>
            <a:r>
              <a:rPr lang="en-US" i="1" dirty="0"/>
              <a:t>, </a:t>
            </a:r>
            <a:r>
              <a:rPr lang="en-US" i="1" dirty="0" err="1"/>
              <a:t>YearsAtCompany</a:t>
            </a:r>
            <a:r>
              <a:rPr lang="en-US" i="1" dirty="0"/>
              <a:t>, </a:t>
            </a:r>
            <a:r>
              <a:rPr lang="en-US" i="1" dirty="0" err="1"/>
              <a:t>YearsInCurrentRole</a:t>
            </a:r>
            <a:r>
              <a:rPr lang="en-US" i="1" dirty="0"/>
              <a:t>, </a:t>
            </a:r>
            <a:r>
              <a:rPr lang="en-US" i="1" dirty="0" err="1"/>
              <a:t>NumCompaniesWorked</a:t>
            </a:r>
            <a:r>
              <a:rPr lang="en-US" i="1" dirty="0"/>
              <a:t>, </a:t>
            </a:r>
            <a:r>
              <a:rPr lang="en-US" i="1" dirty="0" err="1"/>
              <a:t>EducationField</a:t>
            </a:r>
            <a:r>
              <a:rPr lang="en-US" i="1" dirty="0"/>
              <a:t>, </a:t>
            </a:r>
            <a:r>
              <a:rPr lang="en-US" i="1" dirty="0" err="1"/>
              <a:t>StockOptionLevel</a:t>
            </a:r>
            <a:r>
              <a:rPr lang="en-US" i="1" dirty="0"/>
              <a:t>, Age, </a:t>
            </a:r>
            <a:r>
              <a:rPr lang="en-US" i="1" dirty="0" err="1"/>
              <a:t>MaritalStatus</a:t>
            </a:r>
            <a:r>
              <a:rPr lang="en-US" i="1" dirty="0"/>
              <a:t>, Department, </a:t>
            </a:r>
            <a:r>
              <a:rPr lang="en-US" i="1" dirty="0" err="1"/>
              <a:t>JobRole</a:t>
            </a:r>
            <a:r>
              <a:rPr lang="en-US" i="1" dirty="0"/>
              <a:t>, </a:t>
            </a:r>
            <a:r>
              <a:rPr lang="en-US" i="1" dirty="0" err="1"/>
              <a:t>JobInvolvement</a:t>
            </a:r>
            <a:r>
              <a:rPr lang="en-US" i="1" dirty="0"/>
              <a:t>, </a:t>
            </a:r>
            <a:r>
              <a:rPr lang="en-US" i="1" dirty="0" err="1"/>
              <a:t>JobSatisfaction</a:t>
            </a:r>
            <a:r>
              <a:rPr lang="en-US" i="1" dirty="0"/>
              <a:t>.</a:t>
            </a:r>
          </a:p>
          <a:p>
            <a:r>
              <a:rPr lang="en-US" dirty="0"/>
              <a:t>Used a custom decision threshold of 0.30 for predicting “Yes” instead of traditional 0.50.</a:t>
            </a:r>
          </a:p>
          <a:p>
            <a:r>
              <a:rPr lang="en-US" dirty="0"/>
              <a:t>Looked at 100 different iterations of train/test splits (70% train / 30% test) and took mean accuracy, sensitivity, and specificity over all iterations. </a:t>
            </a:r>
          </a:p>
        </p:txBody>
      </p:sp>
    </p:spTree>
    <p:extLst>
      <p:ext uri="{BB962C8B-B14F-4D97-AF65-F5344CB8AC3E}">
        <p14:creationId xmlns:p14="http://schemas.microsoft.com/office/powerpoint/2010/main" val="322036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ADDE3-0654-1367-5C95-CDFE585CA885}"/>
              </a:ext>
            </a:extLst>
          </p:cNvPr>
          <p:cNvSpPr>
            <a:spLocks noGrp="1"/>
          </p:cNvSpPr>
          <p:nvPr>
            <p:ph type="title"/>
          </p:nvPr>
        </p:nvSpPr>
        <p:spPr>
          <a:xfrm>
            <a:off x="1451579" y="804519"/>
            <a:ext cx="9603275" cy="1049235"/>
          </a:xfrm>
        </p:spPr>
        <p:txBody>
          <a:bodyPr>
            <a:normAutofit/>
          </a:bodyPr>
          <a:lstStyle/>
          <a:p>
            <a:r>
              <a:rPr lang="en-US" dirty="0"/>
              <a:t>Naïve Bayes MODEL (cont.)</a:t>
            </a:r>
          </a:p>
        </p:txBody>
      </p:sp>
      <p:sp>
        <p:nvSpPr>
          <p:cNvPr id="3" name="Content Placeholder 2">
            <a:extLst>
              <a:ext uri="{FF2B5EF4-FFF2-40B4-BE49-F238E27FC236}">
                <a16:creationId xmlns:a16="http://schemas.microsoft.com/office/drawing/2014/main" id="{29FC3BB8-81D7-18C2-699C-EF170D9436F6}"/>
              </a:ext>
            </a:extLst>
          </p:cNvPr>
          <p:cNvSpPr>
            <a:spLocks noGrp="1"/>
          </p:cNvSpPr>
          <p:nvPr>
            <p:ph idx="1"/>
          </p:nvPr>
        </p:nvSpPr>
        <p:spPr>
          <a:xfrm>
            <a:off x="1451579" y="2015734"/>
            <a:ext cx="4162555" cy="3450613"/>
          </a:xfrm>
        </p:spPr>
        <p:txBody>
          <a:bodyPr>
            <a:normAutofit/>
          </a:bodyPr>
          <a:lstStyle/>
          <a:p>
            <a:r>
              <a:rPr lang="en-US" sz="1700"/>
              <a:t>Mean Accuracy: 73.46%</a:t>
            </a:r>
          </a:p>
          <a:p>
            <a:pPr lvl="1"/>
            <a:r>
              <a:rPr lang="en-US" sz="1700" i="1"/>
              <a:t># of correctly classified observations</a:t>
            </a:r>
            <a:r>
              <a:rPr lang="en-US" sz="1700" b="1" i="1"/>
              <a:t> / </a:t>
            </a:r>
            <a:r>
              <a:rPr lang="en-US" sz="1700" i="1"/>
              <a:t>total # of observations</a:t>
            </a:r>
          </a:p>
          <a:p>
            <a:r>
              <a:rPr lang="en-US" sz="1700"/>
              <a:t>Mean Sensitivity: 66.75%</a:t>
            </a:r>
          </a:p>
          <a:p>
            <a:pPr lvl="1"/>
            <a:r>
              <a:rPr lang="en-US" sz="1700" i="1"/>
              <a:t># of correctly identified employees who left </a:t>
            </a:r>
            <a:r>
              <a:rPr lang="en-US" sz="1700" b="1" i="1"/>
              <a:t>/</a:t>
            </a:r>
            <a:r>
              <a:rPr lang="en-US" sz="1700" i="1"/>
              <a:t> true # of employees who left</a:t>
            </a:r>
          </a:p>
          <a:p>
            <a:r>
              <a:rPr lang="en-US" sz="1700"/>
              <a:t>Mean Specificity: 74.79%</a:t>
            </a:r>
          </a:p>
          <a:p>
            <a:pPr lvl="1"/>
            <a:r>
              <a:rPr lang="en-US" sz="1700" i="1"/>
              <a:t># of correctly identified employees who stayed </a:t>
            </a:r>
            <a:r>
              <a:rPr lang="en-US" sz="1700" b="1" i="1"/>
              <a:t>/</a:t>
            </a:r>
            <a:r>
              <a:rPr lang="en-US" sz="1700" i="1"/>
              <a:t> true # of employees who stayed</a:t>
            </a:r>
          </a:p>
          <a:p>
            <a:pPr lvl="1"/>
            <a:endParaRPr lang="en-US" sz="1700"/>
          </a:p>
        </p:txBody>
      </p:sp>
      <p:pic>
        <p:nvPicPr>
          <p:cNvPr id="6" name="Picture 5" descr="A graph of different sizes and colors&#10;&#10;AI-generated content may be incorrect.">
            <a:extLst>
              <a:ext uri="{FF2B5EF4-FFF2-40B4-BE49-F238E27FC236}">
                <a16:creationId xmlns:a16="http://schemas.microsoft.com/office/drawing/2014/main" id="{1C459BC4-00AF-FCB1-FFE9-FEBDF9B95C9E}"/>
              </a:ext>
            </a:extLst>
          </p:cNvPr>
          <p:cNvPicPr>
            <a:picLocks noChangeAspect="1"/>
          </p:cNvPicPr>
          <p:nvPr/>
        </p:nvPicPr>
        <p:blipFill>
          <a:blip r:embed="rId2"/>
          <a:stretch>
            <a:fillRect/>
          </a:stretch>
        </p:blipFill>
        <p:spPr>
          <a:xfrm>
            <a:off x="6094411" y="2389320"/>
            <a:ext cx="4960443" cy="2703440"/>
          </a:xfrm>
          <a:prstGeom prst="rect">
            <a:avLst/>
          </a:prstGeom>
        </p:spPr>
      </p:pic>
    </p:spTree>
    <p:extLst>
      <p:ext uri="{BB962C8B-B14F-4D97-AF65-F5344CB8AC3E}">
        <p14:creationId xmlns:p14="http://schemas.microsoft.com/office/powerpoint/2010/main" val="511347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B2B29-8D73-53FD-363E-F69B109F2038}"/>
              </a:ext>
            </a:extLst>
          </p:cNvPr>
          <p:cNvSpPr>
            <a:spLocks noGrp="1"/>
          </p:cNvSpPr>
          <p:nvPr>
            <p:ph type="title"/>
          </p:nvPr>
        </p:nvSpPr>
        <p:spPr>
          <a:xfrm>
            <a:off x="1451579" y="804519"/>
            <a:ext cx="9603275" cy="1049235"/>
          </a:xfrm>
        </p:spPr>
        <p:txBody>
          <a:bodyPr>
            <a:normAutofit/>
          </a:bodyPr>
          <a:lstStyle/>
          <a:p>
            <a:r>
              <a:rPr lang="en-US" dirty="0"/>
              <a:t>Naïve Bayes MODEL (cont.)</a:t>
            </a:r>
          </a:p>
        </p:txBody>
      </p:sp>
      <p:sp>
        <p:nvSpPr>
          <p:cNvPr id="3" name="Content Placeholder 2">
            <a:extLst>
              <a:ext uri="{FF2B5EF4-FFF2-40B4-BE49-F238E27FC236}">
                <a16:creationId xmlns:a16="http://schemas.microsoft.com/office/drawing/2014/main" id="{235339C1-0C4C-ADD0-80E2-EB9EE0D64F1A}"/>
              </a:ext>
            </a:extLst>
          </p:cNvPr>
          <p:cNvSpPr>
            <a:spLocks noGrp="1"/>
          </p:cNvSpPr>
          <p:nvPr>
            <p:ph idx="1"/>
          </p:nvPr>
        </p:nvSpPr>
        <p:spPr>
          <a:xfrm>
            <a:off x="1144457" y="2096283"/>
            <a:ext cx="5674711" cy="4199536"/>
          </a:xfrm>
        </p:spPr>
        <p:txBody>
          <a:bodyPr>
            <a:normAutofit/>
          </a:bodyPr>
          <a:lstStyle/>
          <a:p>
            <a:r>
              <a:rPr lang="en-US" sz="1600" dirty="0"/>
              <a:t>On average, here were our predictions for our test set (261 observations):</a:t>
            </a:r>
          </a:p>
          <a:p>
            <a:pPr lvl="1"/>
            <a:r>
              <a:rPr lang="en-US" sz="1400" dirty="0"/>
              <a:t>164 employees who stayed were correctly predicted to stay</a:t>
            </a:r>
          </a:p>
          <a:p>
            <a:pPr lvl="1"/>
            <a:r>
              <a:rPr lang="en-US" sz="1400" dirty="0"/>
              <a:t>55 employees who stayed were incorrectly predicted to leave</a:t>
            </a:r>
          </a:p>
          <a:p>
            <a:pPr lvl="1"/>
            <a:r>
              <a:rPr lang="en-US" sz="1400" dirty="0"/>
              <a:t>14 employees who left were incorrectly predicted to stay</a:t>
            </a:r>
          </a:p>
          <a:p>
            <a:pPr lvl="1"/>
            <a:r>
              <a:rPr lang="en-US" sz="1400" dirty="0"/>
              <a:t>28 employees who left were correctly predicted to leave</a:t>
            </a:r>
          </a:p>
          <a:p>
            <a:r>
              <a:rPr lang="en-US" sz="1600" dirty="0"/>
              <a:t>Cost</a:t>
            </a:r>
          </a:p>
          <a:p>
            <a:pPr lvl="1"/>
            <a:r>
              <a:rPr lang="en-US" sz="1400" dirty="0"/>
              <a:t>Average Employee’s Salary for dataset: $76,683</a:t>
            </a:r>
          </a:p>
          <a:p>
            <a:pPr lvl="1"/>
            <a:r>
              <a:rPr lang="en-US" sz="1400" dirty="0"/>
              <a:t>[ (200% of $76,683 ) x </a:t>
            </a:r>
            <a:r>
              <a:rPr lang="en-US" sz="1400" i="1" u="sng" dirty="0"/>
              <a:t>14</a:t>
            </a:r>
            <a:r>
              <a:rPr lang="en-US" sz="1400" i="1" dirty="0"/>
              <a:t> </a:t>
            </a:r>
            <a:r>
              <a:rPr lang="en-US" sz="1400" dirty="0"/>
              <a:t>] + [$200 for incentive x </a:t>
            </a:r>
            <a:r>
              <a:rPr lang="en-US" sz="1400" i="1" u="sng" dirty="0"/>
              <a:t>83</a:t>
            </a:r>
            <a:r>
              <a:rPr lang="en-US" sz="1400" dirty="0"/>
              <a:t>]</a:t>
            </a:r>
          </a:p>
          <a:p>
            <a:pPr lvl="1"/>
            <a:r>
              <a:rPr lang="en-US" sz="1400" dirty="0"/>
              <a:t>Estimated Total Cost: </a:t>
            </a:r>
            <a:r>
              <a:rPr lang="en-US" sz="1400" b="1" u="sng" dirty="0"/>
              <a:t>$2,164,724</a:t>
            </a:r>
          </a:p>
          <a:p>
            <a:endParaRPr lang="en-US" sz="1600" dirty="0"/>
          </a:p>
          <a:p>
            <a:endParaRPr lang="en-US" sz="1600" dirty="0"/>
          </a:p>
          <a:p>
            <a:endParaRPr lang="en-US" sz="1600" dirty="0"/>
          </a:p>
        </p:txBody>
      </p:sp>
      <p:grpSp>
        <p:nvGrpSpPr>
          <p:cNvPr id="4" name="Group 3">
            <a:extLst>
              <a:ext uri="{FF2B5EF4-FFF2-40B4-BE49-F238E27FC236}">
                <a16:creationId xmlns:a16="http://schemas.microsoft.com/office/drawing/2014/main" id="{CA323E16-3774-E883-B439-981325D94268}"/>
              </a:ext>
            </a:extLst>
          </p:cNvPr>
          <p:cNvGrpSpPr/>
          <p:nvPr/>
        </p:nvGrpSpPr>
        <p:grpSpPr>
          <a:xfrm>
            <a:off x="8506335" y="2925755"/>
            <a:ext cx="2926098" cy="2540592"/>
            <a:chOff x="4352544" y="2093976"/>
            <a:chExt cx="3145536" cy="2670048"/>
          </a:xfrm>
        </p:grpSpPr>
        <p:sp>
          <p:nvSpPr>
            <p:cNvPr id="5" name="Rectangle 4">
              <a:extLst>
                <a:ext uri="{FF2B5EF4-FFF2-40B4-BE49-F238E27FC236}">
                  <a16:creationId xmlns:a16="http://schemas.microsoft.com/office/drawing/2014/main" id="{AC437F78-E367-37D7-83F3-86EBFB69BB69}"/>
                </a:ext>
              </a:extLst>
            </p:cNvPr>
            <p:cNvSpPr/>
            <p:nvPr/>
          </p:nvSpPr>
          <p:spPr>
            <a:xfrm>
              <a:off x="4352545" y="2093976"/>
              <a:ext cx="1572768" cy="1335024"/>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20624">
                <a:spcAft>
                  <a:spcPts val="600"/>
                </a:spcAft>
              </a:pPr>
              <a:r>
                <a:rPr lang="en-US" dirty="0">
                  <a:solidFill>
                    <a:schemeClr val="bg1"/>
                  </a:solidFill>
                </a:rPr>
                <a:t>164</a:t>
              </a:r>
            </a:p>
          </p:txBody>
        </p:sp>
        <p:sp>
          <p:nvSpPr>
            <p:cNvPr id="6" name="Rectangle 5">
              <a:extLst>
                <a:ext uri="{FF2B5EF4-FFF2-40B4-BE49-F238E27FC236}">
                  <a16:creationId xmlns:a16="http://schemas.microsoft.com/office/drawing/2014/main" id="{EF81558B-62AA-E16C-E794-116CD91C853D}"/>
                </a:ext>
              </a:extLst>
            </p:cNvPr>
            <p:cNvSpPr/>
            <p:nvPr/>
          </p:nvSpPr>
          <p:spPr>
            <a:xfrm>
              <a:off x="5925312" y="2093976"/>
              <a:ext cx="1572768" cy="1335024"/>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20624">
                <a:spcAft>
                  <a:spcPts val="600"/>
                </a:spcAft>
              </a:pPr>
              <a:r>
                <a:rPr lang="en-US" sz="1656" kern="1200" dirty="0">
                  <a:solidFill>
                    <a:schemeClr val="bg1"/>
                  </a:solidFill>
                  <a:latin typeface="+mn-lt"/>
                  <a:ea typeface="+mn-ea"/>
                  <a:cs typeface="+mn-cs"/>
                </a:rPr>
                <a:t>14</a:t>
              </a:r>
              <a:endParaRPr lang="en-US" dirty="0">
                <a:solidFill>
                  <a:schemeClr val="bg1"/>
                </a:solidFill>
              </a:endParaRPr>
            </a:p>
          </p:txBody>
        </p:sp>
        <p:sp>
          <p:nvSpPr>
            <p:cNvPr id="7" name="Rectangle 6">
              <a:extLst>
                <a:ext uri="{FF2B5EF4-FFF2-40B4-BE49-F238E27FC236}">
                  <a16:creationId xmlns:a16="http://schemas.microsoft.com/office/drawing/2014/main" id="{D5C678E5-1DBA-C8AD-D5E3-75FFDFD6E1E8}"/>
                </a:ext>
              </a:extLst>
            </p:cNvPr>
            <p:cNvSpPr/>
            <p:nvPr/>
          </p:nvSpPr>
          <p:spPr>
            <a:xfrm>
              <a:off x="4352544" y="3429000"/>
              <a:ext cx="1572768" cy="1335024"/>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20624">
                <a:spcAft>
                  <a:spcPts val="600"/>
                </a:spcAft>
              </a:pPr>
              <a:r>
                <a:rPr lang="en-US" dirty="0">
                  <a:solidFill>
                    <a:schemeClr val="bg1"/>
                  </a:solidFill>
                </a:rPr>
                <a:t>55</a:t>
              </a:r>
            </a:p>
          </p:txBody>
        </p:sp>
        <p:sp>
          <p:nvSpPr>
            <p:cNvPr id="8" name="Rectangle 7">
              <a:extLst>
                <a:ext uri="{FF2B5EF4-FFF2-40B4-BE49-F238E27FC236}">
                  <a16:creationId xmlns:a16="http://schemas.microsoft.com/office/drawing/2014/main" id="{C76EEE0B-B16F-FAB3-C4D5-F7072AB716D0}"/>
                </a:ext>
              </a:extLst>
            </p:cNvPr>
            <p:cNvSpPr/>
            <p:nvPr/>
          </p:nvSpPr>
          <p:spPr>
            <a:xfrm>
              <a:off x="5925312" y="3429000"/>
              <a:ext cx="1572768" cy="1335024"/>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20624">
                <a:spcAft>
                  <a:spcPts val="600"/>
                </a:spcAft>
              </a:pPr>
              <a:r>
                <a:rPr lang="en-US" dirty="0"/>
                <a:t>28</a:t>
              </a:r>
            </a:p>
          </p:txBody>
        </p:sp>
      </p:grpSp>
      <p:sp>
        <p:nvSpPr>
          <p:cNvPr id="9" name="TextBox 8">
            <a:extLst>
              <a:ext uri="{FF2B5EF4-FFF2-40B4-BE49-F238E27FC236}">
                <a16:creationId xmlns:a16="http://schemas.microsoft.com/office/drawing/2014/main" id="{5BB034AE-1118-B4FE-F28F-91C66E422EC7}"/>
              </a:ext>
            </a:extLst>
          </p:cNvPr>
          <p:cNvSpPr txBox="1"/>
          <p:nvPr/>
        </p:nvSpPr>
        <p:spPr>
          <a:xfrm>
            <a:off x="8984975" y="2615115"/>
            <a:ext cx="556947" cy="369332"/>
          </a:xfrm>
          <a:prstGeom prst="rect">
            <a:avLst/>
          </a:prstGeom>
          <a:noFill/>
        </p:spPr>
        <p:txBody>
          <a:bodyPr wrap="none" rtlCol="0">
            <a:spAutoFit/>
          </a:bodyPr>
          <a:lstStyle/>
          <a:p>
            <a:r>
              <a:rPr lang="en-US" dirty="0"/>
              <a:t>Stay</a:t>
            </a:r>
          </a:p>
        </p:txBody>
      </p:sp>
      <p:sp>
        <p:nvSpPr>
          <p:cNvPr id="10" name="TextBox 9">
            <a:extLst>
              <a:ext uri="{FF2B5EF4-FFF2-40B4-BE49-F238E27FC236}">
                <a16:creationId xmlns:a16="http://schemas.microsoft.com/office/drawing/2014/main" id="{75CF6B56-0B88-574F-4495-D37B2F0BB8D8}"/>
              </a:ext>
            </a:extLst>
          </p:cNvPr>
          <p:cNvSpPr txBox="1"/>
          <p:nvPr/>
        </p:nvSpPr>
        <p:spPr>
          <a:xfrm>
            <a:off x="10343013" y="2615115"/>
            <a:ext cx="780983" cy="369332"/>
          </a:xfrm>
          <a:prstGeom prst="rect">
            <a:avLst/>
          </a:prstGeom>
          <a:noFill/>
        </p:spPr>
        <p:txBody>
          <a:bodyPr wrap="square" rtlCol="0">
            <a:spAutoFit/>
          </a:bodyPr>
          <a:lstStyle/>
          <a:p>
            <a:r>
              <a:rPr lang="en-US" dirty="0"/>
              <a:t>Leave</a:t>
            </a:r>
          </a:p>
        </p:txBody>
      </p:sp>
      <p:sp>
        <p:nvSpPr>
          <p:cNvPr id="11" name="TextBox 10">
            <a:extLst>
              <a:ext uri="{FF2B5EF4-FFF2-40B4-BE49-F238E27FC236}">
                <a16:creationId xmlns:a16="http://schemas.microsoft.com/office/drawing/2014/main" id="{368A7291-10C1-A4D9-046F-AEEAF5A9792B}"/>
              </a:ext>
            </a:extLst>
          </p:cNvPr>
          <p:cNvSpPr txBox="1"/>
          <p:nvPr/>
        </p:nvSpPr>
        <p:spPr>
          <a:xfrm>
            <a:off x="7931701" y="3376237"/>
            <a:ext cx="556947" cy="369332"/>
          </a:xfrm>
          <a:prstGeom prst="rect">
            <a:avLst/>
          </a:prstGeom>
          <a:noFill/>
        </p:spPr>
        <p:txBody>
          <a:bodyPr wrap="none" rtlCol="0">
            <a:spAutoFit/>
          </a:bodyPr>
          <a:lstStyle/>
          <a:p>
            <a:r>
              <a:rPr lang="en-US" dirty="0"/>
              <a:t>Stay</a:t>
            </a:r>
          </a:p>
        </p:txBody>
      </p:sp>
      <p:sp>
        <p:nvSpPr>
          <p:cNvPr id="12" name="TextBox 11">
            <a:extLst>
              <a:ext uri="{FF2B5EF4-FFF2-40B4-BE49-F238E27FC236}">
                <a16:creationId xmlns:a16="http://schemas.microsoft.com/office/drawing/2014/main" id="{64C1E609-D944-052A-4BE6-73021A5AB0F0}"/>
              </a:ext>
            </a:extLst>
          </p:cNvPr>
          <p:cNvSpPr txBox="1"/>
          <p:nvPr/>
        </p:nvSpPr>
        <p:spPr>
          <a:xfrm>
            <a:off x="7782942" y="4646533"/>
            <a:ext cx="705706" cy="369332"/>
          </a:xfrm>
          <a:prstGeom prst="rect">
            <a:avLst/>
          </a:prstGeom>
          <a:noFill/>
        </p:spPr>
        <p:txBody>
          <a:bodyPr wrap="none" rtlCol="0">
            <a:spAutoFit/>
          </a:bodyPr>
          <a:lstStyle/>
          <a:p>
            <a:r>
              <a:rPr lang="en-US" dirty="0"/>
              <a:t>Leave</a:t>
            </a:r>
          </a:p>
        </p:txBody>
      </p:sp>
      <p:sp>
        <p:nvSpPr>
          <p:cNvPr id="13" name="TextBox 12">
            <a:extLst>
              <a:ext uri="{FF2B5EF4-FFF2-40B4-BE49-F238E27FC236}">
                <a16:creationId xmlns:a16="http://schemas.microsoft.com/office/drawing/2014/main" id="{1A0C3E88-5842-86F8-7E69-2A33A31EF84F}"/>
              </a:ext>
            </a:extLst>
          </p:cNvPr>
          <p:cNvSpPr txBox="1"/>
          <p:nvPr/>
        </p:nvSpPr>
        <p:spPr>
          <a:xfrm>
            <a:off x="7126291" y="4011385"/>
            <a:ext cx="1072922" cy="369332"/>
          </a:xfrm>
          <a:prstGeom prst="rect">
            <a:avLst/>
          </a:prstGeom>
          <a:noFill/>
        </p:spPr>
        <p:txBody>
          <a:bodyPr wrap="none" rtlCol="0">
            <a:spAutoFit/>
          </a:bodyPr>
          <a:lstStyle/>
          <a:p>
            <a:r>
              <a:rPr lang="en-US" u="sng" dirty="0"/>
              <a:t>Predicted</a:t>
            </a:r>
          </a:p>
        </p:txBody>
      </p:sp>
      <p:sp>
        <p:nvSpPr>
          <p:cNvPr id="14" name="TextBox 13">
            <a:extLst>
              <a:ext uri="{FF2B5EF4-FFF2-40B4-BE49-F238E27FC236}">
                <a16:creationId xmlns:a16="http://schemas.microsoft.com/office/drawing/2014/main" id="{C3927CB8-5A54-5808-F80A-79795E6290DA}"/>
              </a:ext>
            </a:extLst>
          </p:cNvPr>
          <p:cNvSpPr txBox="1"/>
          <p:nvPr/>
        </p:nvSpPr>
        <p:spPr>
          <a:xfrm>
            <a:off x="9578891" y="2304236"/>
            <a:ext cx="780983" cy="369332"/>
          </a:xfrm>
          <a:prstGeom prst="rect">
            <a:avLst/>
          </a:prstGeom>
          <a:noFill/>
        </p:spPr>
        <p:txBody>
          <a:bodyPr wrap="none" rtlCol="0">
            <a:spAutoFit/>
          </a:bodyPr>
          <a:lstStyle/>
          <a:p>
            <a:r>
              <a:rPr lang="en-US" u="sng" dirty="0"/>
              <a:t>Actual</a:t>
            </a:r>
          </a:p>
        </p:txBody>
      </p:sp>
    </p:spTree>
    <p:extLst>
      <p:ext uri="{BB962C8B-B14F-4D97-AF65-F5344CB8AC3E}">
        <p14:creationId xmlns:p14="http://schemas.microsoft.com/office/powerpoint/2010/main" val="2581828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A4FE7-0530-70DF-7E6C-D1ED993700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B3F98B-7792-D456-4BA3-DFD3EFF9ADC4}"/>
              </a:ext>
            </a:extLst>
          </p:cNvPr>
          <p:cNvSpPr>
            <a:spLocks noGrp="1"/>
          </p:cNvSpPr>
          <p:nvPr>
            <p:ph type="title"/>
          </p:nvPr>
        </p:nvSpPr>
        <p:spPr/>
        <p:txBody>
          <a:bodyPr/>
          <a:lstStyle/>
          <a:p>
            <a:r>
              <a:rPr lang="en-US" dirty="0"/>
              <a:t>MODELING – KNN</a:t>
            </a:r>
          </a:p>
        </p:txBody>
      </p:sp>
    </p:spTree>
    <p:extLst>
      <p:ext uri="{BB962C8B-B14F-4D97-AF65-F5344CB8AC3E}">
        <p14:creationId xmlns:p14="http://schemas.microsoft.com/office/powerpoint/2010/main" val="16570267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A85A1-D81C-7FDC-65B1-6FE9CADE381C}"/>
              </a:ext>
            </a:extLst>
          </p:cNvPr>
          <p:cNvSpPr>
            <a:spLocks noGrp="1"/>
          </p:cNvSpPr>
          <p:nvPr>
            <p:ph type="title"/>
          </p:nvPr>
        </p:nvSpPr>
        <p:spPr/>
        <p:txBody>
          <a:bodyPr/>
          <a:lstStyle/>
          <a:p>
            <a:r>
              <a:rPr lang="en-US" dirty="0"/>
              <a:t>KNN MODEL</a:t>
            </a:r>
          </a:p>
        </p:txBody>
      </p:sp>
      <p:sp>
        <p:nvSpPr>
          <p:cNvPr id="3" name="Content Placeholder 2">
            <a:extLst>
              <a:ext uri="{FF2B5EF4-FFF2-40B4-BE49-F238E27FC236}">
                <a16:creationId xmlns:a16="http://schemas.microsoft.com/office/drawing/2014/main" id="{EC54D08D-C99E-0561-5CCC-89D6C72286C6}"/>
              </a:ext>
            </a:extLst>
          </p:cNvPr>
          <p:cNvSpPr>
            <a:spLocks noGrp="1"/>
          </p:cNvSpPr>
          <p:nvPr>
            <p:ph idx="1"/>
          </p:nvPr>
        </p:nvSpPr>
        <p:spPr>
          <a:xfrm>
            <a:off x="1451579" y="2015732"/>
            <a:ext cx="9603275" cy="3530629"/>
          </a:xfrm>
        </p:spPr>
        <p:txBody>
          <a:bodyPr>
            <a:normAutofit fontScale="92500" lnSpcReduction="20000"/>
          </a:bodyPr>
          <a:lstStyle/>
          <a:p>
            <a:r>
              <a:rPr lang="en-US" dirty="0"/>
              <a:t>The predictors for our model (same as NB): </a:t>
            </a:r>
            <a:r>
              <a:rPr lang="en-US" i="1" dirty="0" err="1"/>
              <a:t>MonthlyIncome</a:t>
            </a:r>
            <a:r>
              <a:rPr lang="en-US" i="1" dirty="0"/>
              <a:t>, </a:t>
            </a:r>
            <a:r>
              <a:rPr lang="en-US" i="1" dirty="0" err="1"/>
              <a:t>TotalWorkingYears</a:t>
            </a:r>
            <a:r>
              <a:rPr lang="en-US" i="1" dirty="0"/>
              <a:t>, </a:t>
            </a:r>
            <a:r>
              <a:rPr lang="en-US" i="1" dirty="0" err="1"/>
              <a:t>OverTime</a:t>
            </a:r>
            <a:r>
              <a:rPr lang="en-US" i="1" dirty="0"/>
              <a:t>, </a:t>
            </a:r>
            <a:r>
              <a:rPr lang="en-US" i="1" dirty="0" err="1"/>
              <a:t>JobLevel</a:t>
            </a:r>
            <a:r>
              <a:rPr lang="en-US" i="1" dirty="0"/>
              <a:t>, </a:t>
            </a:r>
            <a:r>
              <a:rPr lang="en-US" i="1" dirty="0" err="1"/>
              <a:t>YearsAtCompany</a:t>
            </a:r>
            <a:r>
              <a:rPr lang="en-US" i="1" dirty="0"/>
              <a:t>, </a:t>
            </a:r>
            <a:r>
              <a:rPr lang="en-US" i="1" dirty="0" err="1"/>
              <a:t>YearsInCurrentRole</a:t>
            </a:r>
            <a:r>
              <a:rPr lang="en-US" i="1" dirty="0"/>
              <a:t>, </a:t>
            </a:r>
            <a:r>
              <a:rPr lang="en-US" i="1" dirty="0" err="1"/>
              <a:t>NumCompaniesWorked</a:t>
            </a:r>
            <a:r>
              <a:rPr lang="en-US" i="1" dirty="0"/>
              <a:t>, </a:t>
            </a:r>
            <a:r>
              <a:rPr lang="en-US" i="1" dirty="0" err="1"/>
              <a:t>EducationField</a:t>
            </a:r>
            <a:r>
              <a:rPr lang="en-US" i="1" dirty="0"/>
              <a:t>, </a:t>
            </a:r>
            <a:r>
              <a:rPr lang="en-US" i="1" dirty="0" err="1"/>
              <a:t>StockOptionLevel</a:t>
            </a:r>
            <a:r>
              <a:rPr lang="en-US" i="1" dirty="0"/>
              <a:t>, Age, </a:t>
            </a:r>
            <a:r>
              <a:rPr lang="en-US" i="1" dirty="0" err="1"/>
              <a:t>MaritalStatus</a:t>
            </a:r>
            <a:r>
              <a:rPr lang="en-US" i="1" dirty="0"/>
              <a:t>, Department, </a:t>
            </a:r>
            <a:r>
              <a:rPr lang="en-US" i="1" dirty="0" err="1"/>
              <a:t>JobRole</a:t>
            </a:r>
            <a:r>
              <a:rPr lang="en-US" i="1" dirty="0"/>
              <a:t>, </a:t>
            </a:r>
            <a:r>
              <a:rPr lang="en-US" i="1" dirty="0" err="1"/>
              <a:t>JobInvolvement</a:t>
            </a:r>
            <a:r>
              <a:rPr lang="en-US" i="1" dirty="0"/>
              <a:t>, </a:t>
            </a:r>
            <a:r>
              <a:rPr lang="en-US" i="1" dirty="0" err="1"/>
              <a:t>JobSatisfaction</a:t>
            </a:r>
            <a:r>
              <a:rPr lang="en-US" i="1" dirty="0"/>
              <a:t>.</a:t>
            </a:r>
          </a:p>
          <a:p>
            <a:r>
              <a:rPr lang="en-US" dirty="0"/>
              <a:t>Due to the mathematical computation of the KNN Model, predictors </a:t>
            </a:r>
            <a:r>
              <a:rPr lang="en-US" i="1" dirty="0"/>
              <a:t>Department, </a:t>
            </a:r>
            <a:r>
              <a:rPr lang="en-US" i="1" dirty="0" err="1"/>
              <a:t>EducationField</a:t>
            </a:r>
            <a:r>
              <a:rPr lang="en-US" i="1" dirty="0"/>
              <a:t>, </a:t>
            </a:r>
            <a:r>
              <a:rPr lang="en-US" i="1" dirty="0" err="1"/>
              <a:t>OverTime</a:t>
            </a:r>
            <a:r>
              <a:rPr lang="en-US" i="1" dirty="0"/>
              <a:t>, </a:t>
            </a:r>
            <a:r>
              <a:rPr lang="en-US" i="1" dirty="0" err="1"/>
              <a:t>MaritalStatus</a:t>
            </a:r>
            <a:r>
              <a:rPr lang="en-US" i="1" dirty="0"/>
              <a:t>, &amp; </a:t>
            </a:r>
            <a:r>
              <a:rPr lang="en-US" i="1" dirty="0" err="1"/>
              <a:t>JobRole</a:t>
            </a:r>
            <a:r>
              <a:rPr lang="en-US" i="1" dirty="0"/>
              <a:t> </a:t>
            </a:r>
            <a:r>
              <a:rPr lang="en-US" dirty="0"/>
              <a:t>had to be converted to numeric.</a:t>
            </a:r>
          </a:p>
          <a:p>
            <a:r>
              <a:rPr lang="en-US" dirty="0"/>
              <a:t>Assigned k = 4 </a:t>
            </a:r>
            <a:r>
              <a:rPr lang="en-US" i="1" dirty="0"/>
              <a:t>(k is # of nearest neighbors used to make the prediction)</a:t>
            </a:r>
          </a:p>
          <a:p>
            <a:pPr lvl="1"/>
            <a:r>
              <a:rPr lang="en-US" i="1" dirty="0"/>
              <a:t>Tested model’s performance on series of k’s (1-20) and determined lower k is better option.</a:t>
            </a:r>
          </a:p>
          <a:p>
            <a:r>
              <a:rPr lang="en-US" dirty="0"/>
              <a:t>We used a custom decision threshold of 0.15 for predicting “Yes” instead of traditional 0.50.</a:t>
            </a:r>
          </a:p>
          <a:p>
            <a:r>
              <a:rPr lang="en-US" dirty="0"/>
              <a:t>Looked at 100 different iterations of train/test splits (70% train / 30% test) and took mean accuracy, sensitivity, and specificity over all iterations.</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838206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13BA9-37DF-9399-CB9C-EEAF62C33BA8}"/>
              </a:ext>
            </a:extLst>
          </p:cNvPr>
          <p:cNvSpPr>
            <a:spLocks noGrp="1"/>
          </p:cNvSpPr>
          <p:nvPr>
            <p:ph type="title"/>
          </p:nvPr>
        </p:nvSpPr>
        <p:spPr>
          <a:xfrm>
            <a:off x="1451579" y="804519"/>
            <a:ext cx="9603275" cy="1049235"/>
          </a:xfrm>
        </p:spPr>
        <p:txBody>
          <a:bodyPr>
            <a:normAutofit/>
          </a:bodyPr>
          <a:lstStyle/>
          <a:p>
            <a:r>
              <a:rPr lang="en-US" dirty="0"/>
              <a:t>KNN MODEL (cont.)</a:t>
            </a:r>
          </a:p>
        </p:txBody>
      </p:sp>
      <p:sp>
        <p:nvSpPr>
          <p:cNvPr id="3" name="Content Placeholder 2">
            <a:extLst>
              <a:ext uri="{FF2B5EF4-FFF2-40B4-BE49-F238E27FC236}">
                <a16:creationId xmlns:a16="http://schemas.microsoft.com/office/drawing/2014/main" id="{07BDD59A-0078-B790-3B81-3C86FF850F37}"/>
              </a:ext>
            </a:extLst>
          </p:cNvPr>
          <p:cNvSpPr>
            <a:spLocks noGrp="1"/>
          </p:cNvSpPr>
          <p:nvPr>
            <p:ph idx="1"/>
          </p:nvPr>
        </p:nvSpPr>
        <p:spPr>
          <a:xfrm>
            <a:off x="1451579" y="2015734"/>
            <a:ext cx="4162555" cy="3450613"/>
          </a:xfrm>
        </p:spPr>
        <p:txBody>
          <a:bodyPr>
            <a:normAutofit/>
          </a:bodyPr>
          <a:lstStyle/>
          <a:p>
            <a:r>
              <a:rPr lang="en-US" sz="1700"/>
              <a:t>Mean Accuracy: 64.96%</a:t>
            </a:r>
          </a:p>
          <a:p>
            <a:pPr lvl="1"/>
            <a:r>
              <a:rPr lang="en-US" sz="1700" i="1"/>
              <a:t># of correctly classified observations</a:t>
            </a:r>
            <a:r>
              <a:rPr lang="en-US" sz="1700" b="1" i="1"/>
              <a:t> / </a:t>
            </a:r>
            <a:r>
              <a:rPr lang="en-US" sz="1700" i="1"/>
              <a:t>total # of observations</a:t>
            </a:r>
          </a:p>
          <a:p>
            <a:r>
              <a:rPr lang="en-US" sz="1700"/>
              <a:t>Mean Sensitivity: 63.13%</a:t>
            </a:r>
          </a:p>
          <a:p>
            <a:pPr lvl="1"/>
            <a:r>
              <a:rPr lang="en-US" sz="1700" i="1"/>
              <a:t># of correctly identified employees who left </a:t>
            </a:r>
            <a:r>
              <a:rPr lang="en-US" sz="1700" b="1" i="1"/>
              <a:t>/</a:t>
            </a:r>
            <a:r>
              <a:rPr lang="en-US" sz="1700" i="1"/>
              <a:t> true # of employees who left</a:t>
            </a:r>
          </a:p>
          <a:p>
            <a:r>
              <a:rPr lang="en-US" sz="1700"/>
              <a:t>Mean Specificity: 65.39%</a:t>
            </a:r>
          </a:p>
          <a:p>
            <a:pPr lvl="1"/>
            <a:r>
              <a:rPr lang="en-US" sz="1700" i="1"/>
              <a:t># of correctly identified employees who stayed </a:t>
            </a:r>
            <a:r>
              <a:rPr lang="en-US" sz="1700" b="1" i="1"/>
              <a:t>/</a:t>
            </a:r>
            <a:r>
              <a:rPr lang="en-US" sz="1700" i="1"/>
              <a:t> true # of employees who stayed</a:t>
            </a:r>
          </a:p>
          <a:p>
            <a:endParaRPr lang="en-US" sz="1700"/>
          </a:p>
        </p:txBody>
      </p:sp>
      <p:pic>
        <p:nvPicPr>
          <p:cNvPr id="5" name="Picture 4" descr="A graph of different sizes and colors&#10;&#10;AI-generated content may be incorrect.">
            <a:extLst>
              <a:ext uri="{FF2B5EF4-FFF2-40B4-BE49-F238E27FC236}">
                <a16:creationId xmlns:a16="http://schemas.microsoft.com/office/drawing/2014/main" id="{BB24F904-A85F-8483-89C5-5A4FB4281E39}"/>
              </a:ext>
            </a:extLst>
          </p:cNvPr>
          <p:cNvPicPr>
            <a:picLocks noChangeAspect="1"/>
          </p:cNvPicPr>
          <p:nvPr/>
        </p:nvPicPr>
        <p:blipFill>
          <a:blip r:embed="rId2"/>
          <a:stretch>
            <a:fillRect/>
          </a:stretch>
        </p:blipFill>
        <p:spPr>
          <a:xfrm>
            <a:off x="6094411" y="2389320"/>
            <a:ext cx="4960443" cy="2703440"/>
          </a:xfrm>
          <a:prstGeom prst="rect">
            <a:avLst/>
          </a:prstGeom>
        </p:spPr>
      </p:pic>
    </p:spTree>
    <p:extLst>
      <p:ext uri="{BB962C8B-B14F-4D97-AF65-F5344CB8AC3E}">
        <p14:creationId xmlns:p14="http://schemas.microsoft.com/office/powerpoint/2010/main" val="29230109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645FB-1C9F-E95C-A6E4-63C1A7D651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43DFC7-98D6-B959-450E-BF6C298FB9F6}"/>
              </a:ext>
            </a:extLst>
          </p:cNvPr>
          <p:cNvSpPr>
            <a:spLocks noGrp="1"/>
          </p:cNvSpPr>
          <p:nvPr>
            <p:ph type="title"/>
          </p:nvPr>
        </p:nvSpPr>
        <p:spPr>
          <a:xfrm>
            <a:off x="1451579" y="804519"/>
            <a:ext cx="9603275" cy="1049235"/>
          </a:xfrm>
        </p:spPr>
        <p:txBody>
          <a:bodyPr>
            <a:normAutofit/>
          </a:bodyPr>
          <a:lstStyle/>
          <a:p>
            <a:r>
              <a:rPr lang="en-US" dirty="0"/>
              <a:t>KNN MODEL (cont.)</a:t>
            </a:r>
          </a:p>
        </p:txBody>
      </p:sp>
      <p:sp>
        <p:nvSpPr>
          <p:cNvPr id="3" name="Content Placeholder 2">
            <a:extLst>
              <a:ext uri="{FF2B5EF4-FFF2-40B4-BE49-F238E27FC236}">
                <a16:creationId xmlns:a16="http://schemas.microsoft.com/office/drawing/2014/main" id="{C1C0CD19-121E-9934-2D60-B56CA3CF6814}"/>
              </a:ext>
            </a:extLst>
          </p:cNvPr>
          <p:cNvSpPr>
            <a:spLocks noGrp="1"/>
          </p:cNvSpPr>
          <p:nvPr>
            <p:ph idx="1"/>
          </p:nvPr>
        </p:nvSpPr>
        <p:spPr>
          <a:xfrm>
            <a:off x="1100600" y="2096283"/>
            <a:ext cx="5674711" cy="4199536"/>
          </a:xfrm>
        </p:spPr>
        <p:txBody>
          <a:bodyPr>
            <a:normAutofit/>
          </a:bodyPr>
          <a:lstStyle/>
          <a:p>
            <a:r>
              <a:rPr lang="en-US" sz="1600" dirty="0"/>
              <a:t>On average, here were our predictions for our test set (261 observations):</a:t>
            </a:r>
          </a:p>
          <a:p>
            <a:pPr lvl="1"/>
            <a:r>
              <a:rPr lang="en-US" sz="1400" dirty="0"/>
              <a:t>143 employees who stayed were correctly predicted to stay</a:t>
            </a:r>
          </a:p>
          <a:p>
            <a:pPr lvl="1"/>
            <a:r>
              <a:rPr lang="en-US" sz="1400" dirty="0"/>
              <a:t>76 employees who stayed were incorrectly predicted to leave</a:t>
            </a:r>
          </a:p>
          <a:p>
            <a:pPr lvl="1"/>
            <a:r>
              <a:rPr lang="en-US" sz="1400" dirty="0"/>
              <a:t>16 employees who left were incorrectly predicted to stay</a:t>
            </a:r>
          </a:p>
          <a:p>
            <a:pPr lvl="1"/>
            <a:r>
              <a:rPr lang="en-US" sz="1400" dirty="0"/>
              <a:t>26 employees who left were correctly predicted to leave</a:t>
            </a:r>
            <a:endParaRPr lang="en-US" sz="1600" dirty="0"/>
          </a:p>
          <a:p>
            <a:r>
              <a:rPr lang="en-US" sz="1600" dirty="0"/>
              <a:t>Cost</a:t>
            </a:r>
          </a:p>
          <a:p>
            <a:pPr lvl="1"/>
            <a:r>
              <a:rPr lang="en-US" sz="1400" dirty="0"/>
              <a:t>Average Employee’s Salary for dataset: $76,683</a:t>
            </a:r>
          </a:p>
          <a:p>
            <a:pPr lvl="1"/>
            <a:r>
              <a:rPr lang="en-US" sz="1400" dirty="0"/>
              <a:t>[ (200% of $76,683 ) x </a:t>
            </a:r>
            <a:r>
              <a:rPr lang="en-US" sz="1400" i="1" u="sng" dirty="0"/>
              <a:t>16</a:t>
            </a:r>
            <a:r>
              <a:rPr lang="en-US" sz="1400" i="1" dirty="0"/>
              <a:t> </a:t>
            </a:r>
            <a:r>
              <a:rPr lang="en-US" sz="1400" dirty="0"/>
              <a:t>] + [$200 for incentive x </a:t>
            </a:r>
            <a:r>
              <a:rPr lang="en-US" sz="1400" i="1" u="sng" dirty="0"/>
              <a:t>102</a:t>
            </a:r>
            <a:r>
              <a:rPr lang="en-US" sz="1400" dirty="0"/>
              <a:t>]</a:t>
            </a:r>
          </a:p>
          <a:p>
            <a:pPr lvl="1"/>
            <a:r>
              <a:rPr lang="en-US" sz="1400" dirty="0"/>
              <a:t>Estimated Total Cost: </a:t>
            </a:r>
            <a:r>
              <a:rPr lang="en-US" sz="1400" b="1" u="sng" dirty="0"/>
              <a:t>$2,474,256</a:t>
            </a:r>
            <a:r>
              <a:rPr lang="en-US" sz="1400" dirty="0"/>
              <a:t> </a:t>
            </a:r>
          </a:p>
          <a:p>
            <a:pPr lvl="2"/>
            <a:r>
              <a:rPr lang="en-US" sz="1200" i="1" dirty="0"/>
              <a:t>Cost is $309,532 more than NB Model</a:t>
            </a:r>
          </a:p>
          <a:p>
            <a:endParaRPr lang="en-US" sz="1600" dirty="0"/>
          </a:p>
          <a:p>
            <a:endParaRPr lang="en-US" sz="1600" dirty="0"/>
          </a:p>
          <a:p>
            <a:endParaRPr lang="en-US" sz="1600" dirty="0"/>
          </a:p>
        </p:txBody>
      </p:sp>
      <p:grpSp>
        <p:nvGrpSpPr>
          <p:cNvPr id="4" name="Group 3">
            <a:extLst>
              <a:ext uri="{FF2B5EF4-FFF2-40B4-BE49-F238E27FC236}">
                <a16:creationId xmlns:a16="http://schemas.microsoft.com/office/drawing/2014/main" id="{169402DC-EFA4-CDF8-E32F-1E5F18B032D5}"/>
              </a:ext>
            </a:extLst>
          </p:cNvPr>
          <p:cNvGrpSpPr/>
          <p:nvPr/>
        </p:nvGrpSpPr>
        <p:grpSpPr>
          <a:xfrm>
            <a:off x="8506335" y="2925755"/>
            <a:ext cx="2926098" cy="2540592"/>
            <a:chOff x="4352544" y="2093976"/>
            <a:chExt cx="3145536" cy="2670048"/>
          </a:xfrm>
        </p:grpSpPr>
        <p:sp>
          <p:nvSpPr>
            <p:cNvPr id="5" name="Rectangle 4">
              <a:extLst>
                <a:ext uri="{FF2B5EF4-FFF2-40B4-BE49-F238E27FC236}">
                  <a16:creationId xmlns:a16="http://schemas.microsoft.com/office/drawing/2014/main" id="{0E5B052A-E58A-1959-0891-EB8360B0E96C}"/>
                </a:ext>
              </a:extLst>
            </p:cNvPr>
            <p:cNvSpPr/>
            <p:nvPr/>
          </p:nvSpPr>
          <p:spPr>
            <a:xfrm>
              <a:off x="4352545" y="2093976"/>
              <a:ext cx="1572768" cy="1335024"/>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20624">
                <a:spcAft>
                  <a:spcPts val="600"/>
                </a:spcAft>
              </a:pPr>
              <a:r>
                <a:rPr lang="en-US" dirty="0">
                  <a:solidFill>
                    <a:schemeClr val="bg1"/>
                  </a:solidFill>
                </a:rPr>
                <a:t>143</a:t>
              </a:r>
            </a:p>
          </p:txBody>
        </p:sp>
        <p:sp>
          <p:nvSpPr>
            <p:cNvPr id="6" name="Rectangle 5">
              <a:extLst>
                <a:ext uri="{FF2B5EF4-FFF2-40B4-BE49-F238E27FC236}">
                  <a16:creationId xmlns:a16="http://schemas.microsoft.com/office/drawing/2014/main" id="{0754A624-5136-3E76-0D17-67EE18F90ADB}"/>
                </a:ext>
              </a:extLst>
            </p:cNvPr>
            <p:cNvSpPr/>
            <p:nvPr/>
          </p:nvSpPr>
          <p:spPr>
            <a:xfrm>
              <a:off x="5925312" y="2093976"/>
              <a:ext cx="1572768" cy="1335024"/>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20624">
                <a:spcAft>
                  <a:spcPts val="600"/>
                </a:spcAft>
              </a:pPr>
              <a:r>
                <a:rPr lang="en-US" sz="1656" kern="1200" dirty="0">
                  <a:solidFill>
                    <a:schemeClr val="bg1"/>
                  </a:solidFill>
                  <a:latin typeface="+mn-lt"/>
                  <a:ea typeface="+mn-ea"/>
                  <a:cs typeface="+mn-cs"/>
                </a:rPr>
                <a:t>16</a:t>
              </a:r>
              <a:endParaRPr lang="en-US" dirty="0">
                <a:solidFill>
                  <a:schemeClr val="bg1"/>
                </a:solidFill>
              </a:endParaRPr>
            </a:p>
          </p:txBody>
        </p:sp>
        <p:sp>
          <p:nvSpPr>
            <p:cNvPr id="7" name="Rectangle 6">
              <a:extLst>
                <a:ext uri="{FF2B5EF4-FFF2-40B4-BE49-F238E27FC236}">
                  <a16:creationId xmlns:a16="http://schemas.microsoft.com/office/drawing/2014/main" id="{9F14CCC1-22EC-D179-EBFB-3DEA57C343E9}"/>
                </a:ext>
              </a:extLst>
            </p:cNvPr>
            <p:cNvSpPr/>
            <p:nvPr/>
          </p:nvSpPr>
          <p:spPr>
            <a:xfrm>
              <a:off x="4352544" y="3429000"/>
              <a:ext cx="1572768" cy="1335024"/>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20624">
                <a:spcAft>
                  <a:spcPts val="600"/>
                </a:spcAft>
              </a:pPr>
              <a:r>
                <a:rPr lang="en-US" dirty="0">
                  <a:solidFill>
                    <a:schemeClr val="bg1"/>
                  </a:solidFill>
                </a:rPr>
                <a:t>76</a:t>
              </a:r>
            </a:p>
          </p:txBody>
        </p:sp>
        <p:sp>
          <p:nvSpPr>
            <p:cNvPr id="8" name="Rectangle 7">
              <a:extLst>
                <a:ext uri="{FF2B5EF4-FFF2-40B4-BE49-F238E27FC236}">
                  <a16:creationId xmlns:a16="http://schemas.microsoft.com/office/drawing/2014/main" id="{A068A3A2-36FD-E022-7E09-6B416F148AC1}"/>
                </a:ext>
              </a:extLst>
            </p:cNvPr>
            <p:cNvSpPr/>
            <p:nvPr/>
          </p:nvSpPr>
          <p:spPr>
            <a:xfrm>
              <a:off x="5925312" y="3429000"/>
              <a:ext cx="1572768" cy="1335024"/>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20624">
                <a:spcAft>
                  <a:spcPts val="600"/>
                </a:spcAft>
              </a:pPr>
              <a:r>
                <a:rPr lang="en-US" kern="1200" dirty="0">
                  <a:solidFill>
                    <a:schemeClr val="lt1"/>
                  </a:solidFill>
                  <a:latin typeface="+mn-lt"/>
                  <a:ea typeface="+mn-ea"/>
                  <a:cs typeface="+mn-cs"/>
                </a:rPr>
                <a:t>26</a:t>
              </a:r>
              <a:endParaRPr lang="en-US" dirty="0"/>
            </a:p>
          </p:txBody>
        </p:sp>
      </p:grpSp>
      <p:sp>
        <p:nvSpPr>
          <p:cNvPr id="9" name="TextBox 8">
            <a:extLst>
              <a:ext uri="{FF2B5EF4-FFF2-40B4-BE49-F238E27FC236}">
                <a16:creationId xmlns:a16="http://schemas.microsoft.com/office/drawing/2014/main" id="{931C5129-B8C0-48FD-A23F-663BDCBF435C}"/>
              </a:ext>
            </a:extLst>
          </p:cNvPr>
          <p:cNvSpPr txBox="1"/>
          <p:nvPr/>
        </p:nvSpPr>
        <p:spPr>
          <a:xfrm>
            <a:off x="8984975" y="2615115"/>
            <a:ext cx="556947" cy="369332"/>
          </a:xfrm>
          <a:prstGeom prst="rect">
            <a:avLst/>
          </a:prstGeom>
          <a:noFill/>
        </p:spPr>
        <p:txBody>
          <a:bodyPr wrap="none" rtlCol="0">
            <a:spAutoFit/>
          </a:bodyPr>
          <a:lstStyle/>
          <a:p>
            <a:r>
              <a:rPr lang="en-US" dirty="0"/>
              <a:t>Stay</a:t>
            </a:r>
          </a:p>
        </p:txBody>
      </p:sp>
      <p:sp>
        <p:nvSpPr>
          <p:cNvPr id="10" name="TextBox 9">
            <a:extLst>
              <a:ext uri="{FF2B5EF4-FFF2-40B4-BE49-F238E27FC236}">
                <a16:creationId xmlns:a16="http://schemas.microsoft.com/office/drawing/2014/main" id="{A9353013-0F5B-872C-3C3E-ED795A48E042}"/>
              </a:ext>
            </a:extLst>
          </p:cNvPr>
          <p:cNvSpPr txBox="1"/>
          <p:nvPr/>
        </p:nvSpPr>
        <p:spPr>
          <a:xfrm>
            <a:off x="10310418" y="2615115"/>
            <a:ext cx="780982" cy="369332"/>
          </a:xfrm>
          <a:prstGeom prst="rect">
            <a:avLst/>
          </a:prstGeom>
          <a:noFill/>
        </p:spPr>
        <p:txBody>
          <a:bodyPr wrap="square" rtlCol="0">
            <a:spAutoFit/>
          </a:bodyPr>
          <a:lstStyle/>
          <a:p>
            <a:r>
              <a:rPr lang="en-US" dirty="0"/>
              <a:t>Leave</a:t>
            </a:r>
          </a:p>
        </p:txBody>
      </p:sp>
      <p:sp>
        <p:nvSpPr>
          <p:cNvPr id="11" name="TextBox 10">
            <a:extLst>
              <a:ext uri="{FF2B5EF4-FFF2-40B4-BE49-F238E27FC236}">
                <a16:creationId xmlns:a16="http://schemas.microsoft.com/office/drawing/2014/main" id="{6CD21AD0-9DDB-DFF7-3868-2AC8B7187B97}"/>
              </a:ext>
            </a:extLst>
          </p:cNvPr>
          <p:cNvSpPr txBox="1"/>
          <p:nvPr/>
        </p:nvSpPr>
        <p:spPr>
          <a:xfrm>
            <a:off x="7980813" y="3376237"/>
            <a:ext cx="556947" cy="369332"/>
          </a:xfrm>
          <a:prstGeom prst="rect">
            <a:avLst/>
          </a:prstGeom>
          <a:noFill/>
        </p:spPr>
        <p:txBody>
          <a:bodyPr wrap="none" rtlCol="0">
            <a:spAutoFit/>
          </a:bodyPr>
          <a:lstStyle/>
          <a:p>
            <a:r>
              <a:rPr lang="en-US" dirty="0"/>
              <a:t>Stay</a:t>
            </a:r>
          </a:p>
        </p:txBody>
      </p:sp>
      <p:sp>
        <p:nvSpPr>
          <p:cNvPr id="12" name="TextBox 11">
            <a:extLst>
              <a:ext uri="{FF2B5EF4-FFF2-40B4-BE49-F238E27FC236}">
                <a16:creationId xmlns:a16="http://schemas.microsoft.com/office/drawing/2014/main" id="{1036CBDE-259B-BC0B-033F-5E48E4BD1232}"/>
              </a:ext>
            </a:extLst>
          </p:cNvPr>
          <p:cNvSpPr txBox="1"/>
          <p:nvPr/>
        </p:nvSpPr>
        <p:spPr>
          <a:xfrm>
            <a:off x="7856641" y="4646533"/>
            <a:ext cx="705706" cy="369332"/>
          </a:xfrm>
          <a:prstGeom prst="rect">
            <a:avLst/>
          </a:prstGeom>
          <a:noFill/>
        </p:spPr>
        <p:txBody>
          <a:bodyPr wrap="none" rtlCol="0">
            <a:spAutoFit/>
          </a:bodyPr>
          <a:lstStyle/>
          <a:p>
            <a:r>
              <a:rPr lang="en-US" dirty="0"/>
              <a:t>Leave</a:t>
            </a:r>
          </a:p>
        </p:txBody>
      </p:sp>
      <p:sp>
        <p:nvSpPr>
          <p:cNvPr id="13" name="TextBox 12">
            <a:extLst>
              <a:ext uri="{FF2B5EF4-FFF2-40B4-BE49-F238E27FC236}">
                <a16:creationId xmlns:a16="http://schemas.microsoft.com/office/drawing/2014/main" id="{EF5D0AE5-F24B-E138-4747-4B0716CC62BC}"/>
              </a:ext>
            </a:extLst>
          </p:cNvPr>
          <p:cNvSpPr txBox="1"/>
          <p:nvPr/>
        </p:nvSpPr>
        <p:spPr>
          <a:xfrm>
            <a:off x="7126291" y="4011385"/>
            <a:ext cx="1072922" cy="369332"/>
          </a:xfrm>
          <a:prstGeom prst="rect">
            <a:avLst/>
          </a:prstGeom>
          <a:noFill/>
        </p:spPr>
        <p:txBody>
          <a:bodyPr wrap="none" rtlCol="0">
            <a:spAutoFit/>
          </a:bodyPr>
          <a:lstStyle/>
          <a:p>
            <a:r>
              <a:rPr lang="en-US" u="sng" dirty="0"/>
              <a:t>Predicted</a:t>
            </a:r>
          </a:p>
        </p:txBody>
      </p:sp>
      <p:sp>
        <p:nvSpPr>
          <p:cNvPr id="14" name="TextBox 13">
            <a:extLst>
              <a:ext uri="{FF2B5EF4-FFF2-40B4-BE49-F238E27FC236}">
                <a16:creationId xmlns:a16="http://schemas.microsoft.com/office/drawing/2014/main" id="{06196697-080E-1A2E-9702-27E9FA47CF54}"/>
              </a:ext>
            </a:extLst>
          </p:cNvPr>
          <p:cNvSpPr txBox="1"/>
          <p:nvPr/>
        </p:nvSpPr>
        <p:spPr>
          <a:xfrm>
            <a:off x="9578891" y="2304236"/>
            <a:ext cx="780983" cy="369332"/>
          </a:xfrm>
          <a:prstGeom prst="rect">
            <a:avLst/>
          </a:prstGeom>
          <a:noFill/>
        </p:spPr>
        <p:txBody>
          <a:bodyPr wrap="none" rtlCol="0">
            <a:spAutoFit/>
          </a:bodyPr>
          <a:lstStyle/>
          <a:p>
            <a:r>
              <a:rPr lang="en-US" u="sng" dirty="0"/>
              <a:t>Actual</a:t>
            </a:r>
          </a:p>
        </p:txBody>
      </p:sp>
    </p:spTree>
    <p:extLst>
      <p:ext uri="{BB962C8B-B14F-4D97-AF65-F5344CB8AC3E}">
        <p14:creationId xmlns:p14="http://schemas.microsoft.com/office/powerpoint/2010/main" val="1086521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7566C-8AD7-9395-957E-2E32D32A88AD}"/>
              </a:ext>
            </a:extLst>
          </p:cNvPr>
          <p:cNvSpPr>
            <a:spLocks noGrp="1"/>
          </p:cNvSpPr>
          <p:nvPr>
            <p:ph type="title"/>
          </p:nvPr>
        </p:nvSpPr>
        <p:spPr/>
        <p:txBody>
          <a:bodyPr/>
          <a:lstStyle/>
          <a:p>
            <a:r>
              <a:rPr lang="en-US" dirty="0"/>
              <a:t>Concluding thoughts</a:t>
            </a:r>
          </a:p>
        </p:txBody>
      </p:sp>
      <p:sp>
        <p:nvSpPr>
          <p:cNvPr id="3" name="Content Placeholder 2">
            <a:extLst>
              <a:ext uri="{FF2B5EF4-FFF2-40B4-BE49-F238E27FC236}">
                <a16:creationId xmlns:a16="http://schemas.microsoft.com/office/drawing/2014/main" id="{C63352AF-65FD-AF89-5193-99DCFD3C679F}"/>
              </a:ext>
            </a:extLst>
          </p:cNvPr>
          <p:cNvSpPr>
            <a:spLocks noGrp="1"/>
          </p:cNvSpPr>
          <p:nvPr>
            <p:ph idx="1"/>
          </p:nvPr>
        </p:nvSpPr>
        <p:spPr/>
        <p:txBody>
          <a:bodyPr/>
          <a:lstStyle/>
          <a:p>
            <a:r>
              <a:rPr lang="en-US" dirty="0"/>
              <a:t>On average, it appears that our Naïve Bayes model performed better than our KNN (k = 4) model as it outperformed in accuracy, sensitivity, and specificity.</a:t>
            </a:r>
          </a:p>
          <a:p>
            <a:r>
              <a:rPr lang="en-US" dirty="0"/>
              <a:t>From an estimated cost standpoint, our Naïve Bayes model also would cost us $309,532 less than if we used our KNN model. </a:t>
            </a:r>
          </a:p>
        </p:txBody>
      </p:sp>
    </p:spTree>
    <p:extLst>
      <p:ext uri="{BB962C8B-B14F-4D97-AF65-F5344CB8AC3E}">
        <p14:creationId xmlns:p14="http://schemas.microsoft.com/office/powerpoint/2010/main" val="1811180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042" name="Rectangle 1041">
            <a:extLst>
              <a:ext uri="{FF2B5EF4-FFF2-40B4-BE49-F238E27FC236}">
                <a16:creationId xmlns:a16="http://schemas.microsoft.com/office/drawing/2014/main" id="{0CABCAE3-64FC-4149-819F-2C1812824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44" name="Picture 1043">
            <a:extLst>
              <a:ext uri="{FF2B5EF4-FFF2-40B4-BE49-F238E27FC236}">
                <a16:creationId xmlns:a16="http://schemas.microsoft.com/office/drawing/2014/main" id="{012FDCFE-9AD2-4D8A-8CBF-B3AA37EBF6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046" name="Straight Connector 1045">
            <a:extLst>
              <a:ext uri="{FF2B5EF4-FFF2-40B4-BE49-F238E27FC236}">
                <a16:creationId xmlns:a16="http://schemas.microsoft.com/office/drawing/2014/main" id="{FBD463FC-4CA8-4FF4-85A3-AF9F4B98D2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050" name="Straight Connector 1049">
            <a:extLst>
              <a:ext uri="{FF2B5EF4-FFF2-40B4-BE49-F238E27FC236}">
                <a16:creationId xmlns:a16="http://schemas.microsoft.com/office/drawing/2014/main" id="{BECF35C3-8B44-4F4B-BD25-4C01823DB2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041" name="Rectangle 1040">
            <a:extLst>
              <a:ext uri="{FF2B5EF4-FFF2-40B4-BE49-F238E27FC236}">
                <a16:creationId xmlns:a16="http://schemas.microsoft.com/office/drawing/2014/main" id="{2FA7AD0A-1871-4DF8-9235-F49D0513B9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3" name="Rectangle 1042">
            <a:extLst>
              <a:ext uri="{FF2B5EF4-FFF2-40B4-BE49-F238E27FC236}">
                <a16:creationId xmlns:a16="http://schemas.microsoft.com/office/drawing/2014/main" id="{36B04CFB-FAE5-47DD-9B3E-4E9BA7A89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E979E4F4-362E-9F9C-3669-F8429E93DCE5}"/>
              </a:ext>
            </a:extLst>
          </p:cNvPr>
          <p:cNvSpPr>
            <a:spLocks noGrp="1"/>
          </p:cNvSpPr>
          <p:nvPr>
            <p:ph type="title"/>
          </p:nvPr>
        </p:nvSpPr>
        <p:spPr>
          <a:xfrm>
            <a:off x="659301" y="1474969"/>
            <a:ext cx="2823919" cy="1868760"/>
          </a:xfrm>
        </p:spPr>
        <p:txBody>
          <a:bodyPr vert="horz" lIns="91440" tIns="45720" rIns="91440" bIns="0" rtlCol="0" anchor="b">
            <a:normAutofit/>
          </a:bodyPr>
          <a:lstStyle/>
          <a:p>
            <a:r>
              <a:rPr lang="en-US" sz="3600"/>
              <a:t>Questions?</a:t>
            </a:r>
          </a:p>
        </p:txBody>
      </p:sp>
      <p:cxnSp>
        <p:nvCxnSpPr>
          <p:cNvPr id="1045" name="Straight Connector 1044">
            <a:extLst>
              <a:ext uri="{FF2B5EF4-FFF2-40B4-BE49-F238E27FC236}">
                <a16:creationId xmlns:a16="http://schemas.microsoft.com/office/drawing/2014/main" id="{EE68D41B-9286-479F-9AB7-678C8E348D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9301" y="3528543"/>
            <a:ext cx="2823919" cy="0"/>
          </a:xfrm>
          <a:prstGeom prst="line">
            <a:avLst/>
          </a:prstGeom>
          <a:ln w="31750"/>
        </p:spPr>
        <p:style>
          <a:lnRef idx="3">
            <a:schemeClr val="accent1"/>
          </a:lnRef>
          <a:fillRef idx="0">
            <a:schemeClr val="accent1"/>
          </a:fillRef>
          <a:effectRef idx="2">
            <a:schemeClr val="accent1"/>
          </a:effectRef>
          <a:fontRef idx="minor">
            <a:schemeClr val="tx1"/>
          </a:fontRef>
        </p:style>
      </p:cxnSp>
      <p:grpSp>
        <p:nvGrpSpPr>
          <p:cNvPr id="1047" name="Group 1046">
            <a:extLst>
              <a:ext uri="{FF2B5EF4-FFF2-40B4-BE49-F238E27FC236}">
                <a16:creationId xmlns:a16="http://schemas.microsoft.com/office/drawing/2014/main" id="{E8ACF89C-CFC3-4D68-B3C4-2BEFB7BBE5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979389" y="482171"/>
            <a:ext cx="7560115" cy="5149101"/>
            <a:chOff x="3979389" y="482171"/>
            <a:chExt cx="7560115" cy="5149101"/>
          </a:xfrm>
        </p:grpSpPr>
        <p:sp>
          <p:nvSpPr>
            <p:cNvPr id="1048" name="Rectangle 1047">
              <a:extLst>
                <a:ext uri="{FF2B5EF4-FFF2-40B4-BE49-F238E27FC236}">
                  <a16:creationId xmlns:a16="http://schemas.microsoft.com/office/drawing/2014/main" id="{3B770B7D-3C5C-4682-8DF0-20783592F3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79389" y="482171"/>
              <a:ext cx="7560115"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49" name="Rectangle 1048">
              <a:extLst>
                <a:ext uri="{FF2B5EF4-FFF2-40B4-BE49-F238E27FC236}">
                  <a16:creationId xmlns:a16="http://schemas.microsoft.com/office/drawing/2014/main" id="{A6893E11-7EC1-4EB6-A2A8-0B693F8FE5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92448" y="812507"/>
              <a:ext cx="692827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051" name="Rectangle 1050">
            <a:extLst>
              <a:ext uri="{FF2B5EF4-FFF2-40B4-BE49-F238E27FC236}">
                <a16:creationId xmlns:a16="http://schemas.microsoft.com/office/drawing/2014/main" id="{622F7FD7-8884-4FD5-95AB-0B5C6033A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5487" y="977965"/>
            <a:ext cx="6615582" cy="4135339"/>
          </a:xfrm>
          <a:prstGeom prst="rect">
            <a:avLst/>
          </a:prstGeom>
          <a:solidFill>
            <a:schemeClr val="bg1"/>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4 Types of Job Interview Questions to Help You Dig Deeper">
            <a:extLst>
              <a:ext uri="{FF2B5EF4-FFF2-40B4-BE49-F238E27FC236}">
                <a16:creationId xmlns:a16="http://schemas.microsoft.com/office/drawing/2014/main" id="{189AC4A6-1C38-6661-5498-0CAB4EB0C7A5}"/>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4618374" y="1792847"/>
            <a:ext cx="6282919" cy="2513167"/>
          </a:xfrm>
          <a:prstGeom prst="rect">
            <a:avLst/>
          </a:prstGeom>
          <a:noFill/>
          <a:extLst>
            <a:ext uri="{909E8E84-426E-40DD-AFC4-6F175D3DCCD1}">
              <a14:hiddenFill xmlns:a14="http://schemas.microsoft.com/office/drawing/2010/main">
                <a:solidFill>
                  <a:srgbClr val="FFFFFF"/>
                </a:solidFill>
              </a14:hiddenFill>
            </a:ext>
          </a:extLst>
        </p:spPr>
      </p:pic>
      <p:pic>
        <p:nvPicPr>
          <p:cNvPr id="1053" name="Picture 1052">
            <a:extLst>
              <a:ext uri="{FF2B5EF4-FFF2-40B4-BE49-F238E27FC236}">
                <a16:creationId xmlns:a16="http://schemas.microsoft.com/office/drawing/2014/main" id="{16EFE474-4FE0-4E8F-8F09-5ED2C9E76A8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055" name="Straight Connector 1054">
            <a:extLst>
              <a:ext uri="{FF2B5EF4-FFF2-40B4-BE49-F238E27FC236}">
                <a16:creationId xmlns:a16="http://schemas.microsoft.com/office/drawing/2014/main" id="{CF8B8C81-54DC-4AF5-B682-3A2C70A6B5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48264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F282F-1DFD-F376-5078-F1651C3C72F2}"/>
              </a:ext>
            </a:extLst>
          </p:cNvPr>
          <p:cNvSpPr>
            <a:spLocks noGrp="1"/>
          </p:cNvSpPr>
          <p:nvPr>
            <p:ph type="title"/>
          </p:nvPr>
        </p:nvSpPr>
        <p:spPr/>
        <p:txBody>
          <a:bodyPr/>
          <a:lstStyle/>
          <a:p>
            <a:r>
              <a:rPr lang="en-US" dirty="0"/>
              <a:t>Appendix</a:t>
            </a:r>
          </a:p>
        </p:txBody>
      </p:sp>
    </p:spTree>
    <p:extLst>
      <p:ext uri="{BB962C8B-B14F-4D97-AF65-F5344CB8AC3E}">
        <p14:creationId xmlns:p14="http://schemas.microsoft.com/office/powerpoint/2010/main" val="18119894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a:extLst>
            <a:ext uri="{FF2B5EF4-FFF2-40B4-BE49-F238E27FC236}">
              <a16:creationId xmlns:a16="http://schemas.microsoft.com/office/drawing/2014/main" id="{90635717-8806-1B71-0001-726759EE7C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BD4F5B-7D1B-300D-4C28-9C767D57E230}"/>
              </a:ext>
            </a:extLst>
          </p:cNvPr>
          <p:cNvSpPr>
            <a:spLocks noGrp="1"/>
          </p:cNvSpPr>
          <p:nvPr>
            <p:ph type="title"/>
          </p:nvPr>
        </p:nvSpPr>
        <p:spPr>
          <a:xfrm>
            <a:off x="1451579" y="804519"/>
            <a:ext cx="9603275" cy="1049235"/>
          </a:xfrm>
        </p:spPr>
        <p:txBody>
          <a:bodyPr>
            <a:normAutofit/>
          </a:bodyPr>
          <a:lstStyle/>
          <a:p>
            <a:r>
              <a:rPr lang="en-US" dirty="0"/>
              <a:t>Variable selection methodology</a:t>
            </a:r>
          </a:p>
        </p:txBody>
      </p:sp>
      <p:sp>
        <p:nvSpPr>
          <p:cNvPr id="3" name="Content Placeholder 2">
            <a:extLst>
              <a:ext uri="{FF2B5EF4-FFF2-40B4-BE49-F238E27FC236}">
                <a16:creationId xmlns:a16="http://schemas.microsoft.com/office/drawing/2014/main" id="{E5C40FA8-C81E-EFF0-E9D3-E12CEFC81A04}"/>
              </a:ext>
            </a:extLst>
          </p:cNvPr>
          <p:cNvSpPr>
            <a:spLocks noGrp="1"/>
          </p:cNvSpPr>
          <p:nvPr>
            <p:ph idx="1"/>
          </p:nvPr>
        </p:nvSpPr>
        <p:spPr>
          <a:xfrm>
            <a:off x="1451579" y="2015734"/>
            <a:ext cx="6195784" cy="3450613"/>
          </a:xfrm>
        </p:spPr>
        <p:txBody>
          <a:bodyPr>
            <a:normAutofit/>
          </a:bodyPr>
          <a:lstStyle/>
          <a:p>
            <a:pPr>
              <a:lnSpc>
                <a:spcPct val="110000"/>
              </a:lnSpc>
            </a:pPr>
            <a:r>
              <a:rPr lang="en-US" sz="1500"/>
              <a:t>After running a Naïve Bayes model with all predictors included, I used the following R code to see which predictors contribute the most to predicting Attrition.</a:t>
            </a:r>
          </a:p>
          <a:p>
            <a:pPr>
              <a:lnSpc>
                <a:spcPct val="110000"/>
              </a:lnSpc>
            </a:pPr>
            <a:r>
              <a:rPr lang="en-US" sz="1500" i="1"/>
              <a:t>Note:</a:t>
            </a:r>
          </a:p>
          <a:p>
            <a:pPr lvl="1">
              <a:lnSpc>
                <a:spcPct val="110000"/>
              </a:lnSpc>
            </a:pPr>
            <a:r>
              <a:rPr lang="en-US" sz="1500" i="1"/>
              <a:t>For numeric predictors, first column is the mean, and the second column is standard deviation. If there is a large difference between means of  Yes v No Group, then it's a very strong predictor. </a:t>
            </a:r>
          </a:p>
          <a:p>
            <a:pPr lvl="1">
              <a:lnSpc>
                <a:spcPct val="110000"/>
              </a:lnSpc>
            </a:pPr>
            <a:r>
              <a:rPr lang="en-US" sz="1500" i="1"/>
              <a:t>For categorical predictors, each row represents the conditional probabilities for a specific response (Attrition = Yes vs No) across classes. </a:t>
            </a:r>
          </a:p>
        </p:txBody>
      </p:sp>
      <p:pic>
        <p:nvPicPr>
          <p:cNvPr id="5" name="Picture 4" descr="A screenshot of a computer&#10;&#10;AI-generated content may be incorrect.">
            <a:extLst>
              <a:ext uri="{FF2B5EF4-FFF2-40B4-BE49-F238E27FC236}">
                <a16:creationId xmlns:a16="http://schemas.microsoft.com/office/drawing/2014/main" id="{865EB677-80A7-7D4B-3334-1DA75E867852}"/>
              </a:ext>
            </a:extLst>
          </p:cNvPr>
          <p:cNvPicPr>
            <a:picLocks noChangeAspect="1"/>
          </p:cNvPicPr>
          <p:nvPr/>
        </p:nvPicPr>
        <p:blipFill>
          <a:blip r:embed="rId2"/>
          <a:stretch>
            <a:fillRect/>
          </a:stretch>
        </p:blipFill>
        <p:spPr>
          <a:xfrm>
            <a:off x="8128756" y="2180454"/>
            <a:ext cx="2926098" cy="3121172"/>
          </a:xfrm>
          <a:prstGeom prst="rect">
            <a:avLst/>
          </a:prstGeom>
        </p:spPr>
      </p:pic>
    </p:spTree>
    <p:extLst>
      <p:ext uri="{BB962C8B-B14F-4D97-AF65-F5344CB8AC3E}">
        <p14:creationId xmlns:p14="http://schemas.microsoft.com/office/powerpoint/2010/main" val="4230267238"/>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1214</TotalTime>
  <Words>1004</Words>
  <Application>Microsoft Macintosh PowerPoint</Application>
  <PresentationFormat>Widescreen</PresentationFormat>
  <Paragraphs>116</Paragraphs>
  <Slides>22</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Arial</vt:lpstr>
      <vt:lpstr>Gill Sans MT</vt:lpstr>
      <vt:lpstr>Gallery</vt:lpstr>
      <vt:lpstr>Case Study 1</vt:lpstr>
      <vt:lpstr>Problem</vt:lpstr>
      <vt:lpstr>Costs</vt:lpstr>
      <vt:lpstr>Summary of attritions</vt:lpstr>
      <vt:lpstr>Initial Data Wrangling</vt:lpstr>
      <vt:lpstr>Visualizations - EDA</vt:lpstr>
      <vt:lpstr>PowerPoint Presentation</vt:lpstr>
      <vt:lpstr>PowerPoint Presentation</vt:lpstr>
      <vt:lpstr>PowerPoint Presentation</vt:lpstr>
      <vt:lpstr>PowerPoint Presentation</vt:lpstr>
      <vt:lpstr>MODELING – Naïve Bayes</vt:lpstr>
      <vt:lpstr>Naïve Bayes MODEL (cont.)</vt:lpstr>
      <vt:lpstr>Naïve Bayes MODEL (cont.)</vt:lpstr>
      <vt:lpstr>Naïve Bayes MODEL (cont.)</vt:lpstr>
      <vt:lpstr>MODELING – KNN</vt:lpstr>
      <vt:lpstr>KNN MODEL</vt:lpstr>
      <vt:lpstr>KNN MODEL (cont.)</vt:lpstr>
      <vt:lpstr>KNN MODEL (cont.)</vt:lpstr>
      <vt:lpstr>Concluding thoughts</vt:lpstr>
      <vt:lpstr>Questions?</vt:lpstr>
      <vt:lpstr>Appendix</vt:lpstr>
      <vt:lpstr>Variable selection methodology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Samuel, Josh</dc:creator>
  <cp:lastModifiedBy>Samuel, Josh</cp:lastModifiedBy>
  <cp:revision>35</cp:revision>
  <dcterms:created xsi:type="dcterms:W3CDTF">2026-02-24T06:01:40Z</dcterms:created>
  <dcterms:modified xsi:type="dcterms:W3CDTF">2026-03-05T01:02:39Z</dcterms:modified>
</cp:coreProperties>
</file>